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4472C4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ED7D31"/>
              </a:solidFill>
            </c:spPr>
          </c:dPt>
          <c:dPt>
            <c:idx val="1"/>
            <c:invertIfNegative val="0"/>
            <c:bubble3D val="0"/>
            <c:spPr>
              <a:solidFill>
                <a:srgbClr val="4472C4"/>
              </a:solidFill>
            </c:spPr>
          </c:dPt>
          <c:dPt>
            <c:idx val="2"/>
            <c:invertIfNegative val="0"/>
            <c:bubble3D val="0"/>
            <c:spPr>
              <a:solidFill>
                <a:srgbClr val="4472C4"/>
              </a:solidFill>
            </c:spPr>
          </c:dPt>
          <c:dPt>
            <c:idx val="3"/>
            <c:invertIfNegative val="0"/>
            <c:bubble3D val="0"/>
            <c:spPr>
              <a:solidFill>
                <a:srgbClr val="4472C4"/>
              </a:solidFill>
            </c:spPr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RN50
(23.5M)</c:v>
                </c:pt>
                <c:pt idx="1">
                  <c:v>RN34
(21.3M)</c:v>
                </c:pt>
                <c:pt idx="2">
                  <c:v>RN18
(11.2M)</c:v>
                </c:pt>
                <c:pt idx="3">
                  <c:v>EfficientNet-B0
(5.3M)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76.92</c:v>
                </c:pt>
                <c:pt idx="1">
                  <c:v>72.86</c:v>
                </c:pt>
                <c:pt idx="2">
                  <c:v>73.03</c:v>
                </c:pt>
                <c:pt idx="3">
                  <c:v>70.01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 cap="flat" cmpd="sng" algn="ctr">
            <a:solidFill>
              <a:srgbClr val="E0E0E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5"/>
          <c:min val="0"/>
        </c:scaling>
        <c:delete val="0"/>
        <c:axPos val="l"/>
        <c:majorGridlines>
          <c:spPr>
            <a:ln w="9525" cap="flat" cmpd="sng" algn="ctr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525" cap="flat" cmpd="sng" algn="ctr">
            <a:solidFill>
              <a:srgbClr val="E0E0E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fa43c906-6ba2-4ec6-8734-b662871b2c7e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4472C4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ED7D31"/>
              </a:solidFill>
            </c:spPr>
          </c:dPt>
          <c:dPt>
            <c:idx val="1"/>
            <c:invertIfNegative val="0"/>
            <c:bubble3D val="0"/>
            <c:spPr>
              <a:solidFill>
                <a:srgbClr val="4472C4"/>
              </a:solidFill>
            </c:spPr>
          </c:dPt>
          <c:dPt>
            <c:idx val="2"/>
            <c:invertIfNegative val="0"/>
            <c:bubble3D val="0"/>
            <c:spPr>
              <a:solidFill>
                <a:srgbClr val="4472C4"/>
              </a:solidFill>
            </c:spPr>
          </c:dPt>
          <c:dPt>
            <c:idx val="3"/>
            <c:invertIfNegative val="0"/>
            <c:bubble3D val="0"/>
            <c:spPr>
              <a:solidFill>
                <a:srgbClr val="4472C4"/>
              </a:solidFill>
            </c:spPr>
          </c:dPt>
          <c:dPt>
            <c:idx val="4"/>
            <c:invertIfNegative val="0"/>
            <c:bubble3D val="0"/>
            <c:spPr>
              <a:solidFill>
                <a:srgbClr val="4472C4"/>
              </a:solidFill>
            </c:spPr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C5
AdamW+Cos</c:v>
                </c:pt>
                <c:pt idx="1">
                  <c:v>C3
Adam+Cos</c:v>
                </c:pt>
                <c:pt idx="2">
                  <c:v>C2b
SGD+Cos</c:v>
                </c:pt>
                <c:pt idx="3">
                  <c:v>C1
AdamW+Exp</c:v>
                </c:pt>
                <c:pt idx="4">
                  <c:v>C4
Adam+
Plateau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80.09</c:v>
                </c:pt>
                <c:pt idx="1">
                  <c:v>78.44</c:v>
                </c:pt>
                <c:pt idx="2">
                  <c:v>77.78</c:v>
                </c:pt>
                <c:pt idx="3">
                  <c:v>70.81</c:v>
                </c:pt>
                <c:pt idx="4">
                  <c:v>71.3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 cap="flat" cmpd="sng" algn="ctr">
            <a:solidFill>
              <a:srgbClr val="E0E0E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5"/>
          <c:min val="0"/>
        </c:scaling>
        <c:delete val="0"/>
        <c:axPos val="l"/>
        <c:majorGridlines>
          <c:spPr>
            <a:ln w="9525" cap="flat" cmpd="sng" algn="ctr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525" cap="flat" cmpd="sng" algn="ctr">
            <a:solidFill>
              <a:srgbClr val="E0E0E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237387d5-867d-4ba6-824b-d114fb00d89d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4472C4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ED7D31"/>
              </a:solidFill>
            </c:spPr>
          </c:dPt>
          <c:dPt>
            <c:idx val="1"/>
            <c:invertIfNegative val="0"/>
            <c:bubble3D val="0"/>
            <c:spPr>
              <a:solidFill>
                <a:srgbClr val="4472C4"/>
              </a:solidFill>
            </c:spPr>
          </c:dPt>
          <c:dPt>
            <c:idx val="2"/>
            <c:invertIfNegative val="0"/>
            <c:bubble3D val="0"/>
            <c:spPr>
              <a:solidFill>
                <a:srgbClr val="4472C4"/>
              </a:solidFill>
            </c:spPr>
          </c:dPt>
          <c:dPt>
            <c:idx val="3"/>
            <c:invertIfNegative val="0"/>
            <c:bubble3D val="0"/>
            <c:spPr>
              <a:solidFill>
                <a:srgbClr val="4472C4"/>
              </a:solidFill>
            </c:spPr>
          </c:dPt>
          <c:dPt>
            <c:idx val="4"/>
            <c:invertIfNegative val="0"/>
            <c:bubble3D val="0"/>
            <c:spPr>
              <a:solidFill>
                <a:srgbClr val="4472C4"/>
              </a:solidFill>
            </c:spPr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基线
(无正则)</c:v>
                </c:pt>
                <c:pt idx="1">
                  <c:v>D2
Dropout0.5</c:v>
                </c:pt>
                <c:pt idx="2">
                  <c:v>D4
WD=1e-3</c:v>
                </c:pt>
                <c:pt idx="3">
                  <c:v>D1
Dropout0.3</c:v>
                </c:pt>
                <c:pt idx="4">
                  <c:v>D3
LabelSmooth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80.09</c:v>
                </c:pt>
                <c:pt idx="1">
                  <c:v>79.18</c:v>
                </c:pt>
                <c:pt idx="2">
                  <c:v>77.1</c:v>
                </c:pt>
                <c:pt idx="3">
                  <c:v>73.68</c:v>
                </c:pt>
                <c:pt idx="4">
                  <c:v>73.66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 cap="flat" cmpd="sng" algn="ctr">
            <a:solidFill>
              <a:srgbClr val="E0E0E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5"/>
          <c:min val="0"/>
        </c:scaling>
        <c:delete val="0"/>
        <c:axPos val="l"/>
        <c:majorGridlines>
          <c:spPr>
            <a:ln w="9525" cap="flat" cmpd="sng" algn="ctr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525" cap="flat" cmpd="sng" algn="ctr">
            <a:solidFill>
              <a:srgbClr val="E0E0E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c04becb6-bc21-46a1-84d9-27edef969669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4472C4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ED7D31"/>
              </a:solidFill>
            </c:spPr>
          </c:dPt>
          <c:dPt>
            <c:idx val="1"/>
            <c:invertIfNegative val="0"/>
            <c:bubble3D val="0"/>
            <c:spPr>
              <a:solidFill>
                <a:srgbClr val="4472C4"/>
              </a:solidFill>
            </c:spPr>
          </c:dPt>
          <c:dPt>
            <c:idx val="2"/>
            <c:invertIfNegative val="0"/>
            <c:bubble3D val="0"/>
            <c:spPr>
              <a:solidFill>
                <a:srgbClr val="4472C4"/>
              </a:solidFill>
            </c:spPr>
          </c:dPt>
          <c:dPt>
            <c:idx val="3"/>
            <c:invertIfNegative val="0"/>
            <c:bubble3D val="0"/>
            <c:spPr>
              <a:solidFill>
                <a:srgbClr val="4472C4"/>
              </a:solidFill>
            </c:spPr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基线
(无增强)</c:v>
                </c:pt>
                <c:pt idx="1">
                  <c:v>E2
Geometric</c:v>
                </c:pt>
                <c:pt idx="2">
                  <c:v>E4
MixUp</c:v>
                </c:pt>
                <c:pt idx="3">
                  <c:v>E3
Geo+Color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80.09</c:v>
                </c:pt>
                <c:pt idx="1">
                  <c:v>79.62</c:v>
                </c:pt>
                <c:pt idx="2">
                  <c:v>71.19</c:v>
                </c:pt>
                <c:pt idx="3">
                  <c:v>24.78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 cap="flat" cmpd="sng" algn="ctr">
            <a:solidFill>
              <a:srgbClr val="E0E0E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5"/>
          <c:min val="0"/>
        </c:scaling>
        <c:delete val="0"/>
        <c:axPos val="l"/>
        <c:majorGridlines>
          <c:spPr>
            <a:ln w="9525" cap="flat" cmpd="sng" algn="ctr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525" cap="flat" cmpd="sng" algn="ctr">
            <a:solidFill>
              <a:srgbClr val="E0E0E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1387fb83-da89-4c55-9ccc-14b2a2df1a9a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4472C4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4472C4"/>
              </a:solidFill>
            </c:spPr>
          </c:dPt>
          <c:dPt>
            <c:idx val="1"/>
            <c:invertIfNegative val="0"/>
            <c:bubble3D val="0"/>
            <c:spPr>
              <a:solidFill>
                <a:srgbClr val="4472C4"/>
              </a:solidFill>
            </c:spPr>
          </c:dPt>
          <c:dPt>
            <c:idx val="2"/>
            <c:invertIfNegative val="0"/>
            <c:bubble3D val="0"/>
            <c:spPr>
              <a:solidFill>
                <a:srgbClr val="ED7D31"/>
              </a:solidFill>
            </c:spPr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E2
Haar+Geo</c:v>
                </c:pt>
                <c:pt idx="1">
                  <c:v>C5
YOLO only</c:v>
                </c:pt>
                <c:pt idx="2">
                  <c:v>F1
YOLO+Geo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79.62</c:v>
                </c:pt>
                <c:pt idx="1">
                  <c:v>80.09</c:v>
                </c:pt>
                <c:pt idx="2">
                  <c:v>89.31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 cap="flat" cmpd="sng" algn="ctr">
            <a:solidFill>
              <a:srgbClr val="E0E0E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5"/>
          <c:min val="0"/>
        </c:scaling>
        <c:delete val="0"/>
        <c:axPos val="l"/>
        <c:majorGridlines>
          <c:spPr>
            <a:ln w="9525" cap="flat" cmpd="sng" algn="ctr">
              <a:solidFill>
                <a:srgbClr val="E0E0E0"/>
              </a:solidFill>
              <a:prstDash val="solid"/>
              <a:round/>
            </a:ln>
          </c:spPr>
        </c:majorGridlines>
        <c:majorTickMark val="out"/>
        <c:minorTickMark val="none"/>
        <c:tickLblPos val="nextTo"/>
        <c:spPr>
          <a:ln w="9525" cap="flat" cmpd="sng" algn="ctr">
            <a:solidFill>
              <a:srgbClr val="E0E0E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e4b9aff2-3e7e-4a5e-9068-d95ffe23d90f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89.68</c:v>
                </c:pt>
                <c:pt idx="1">
                  <c:v>83.33</c:v>
                </c:pt>
                <c:pt idx="2">
                  <c:v>97.78</c:v>
                </c:pt>
                <c:pt idx="3">
                  <c:v>100</c:v>
                </c:pt>
                <c:pt idx="4">
                  <c:v>99.17</c:v>
                </c:pt>
                <c:pt idx="5">
                  <c:v>89.17</c:v>
                </c:pt>
                <c:pt idx="6">
                  <c:v>93</c:v>
                </c:pt>
                <c:pt idx="7">
                  <c:v>100</c:v>
                </c:pt>
                <c:pt idx="8">
                  <c:v>92.86</c:v>
                </c:pt>
                <c:pt idx="9">
                  <c:v>87.5</c:v>
                </c:pt>
                <c:pt idx="10">
                  <c:v>75</c:v>
                </c:pt>
                <c:pt idx="11">
                  <c:v>64.29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5"/>
          <c:min val="0"/>
        </c:scaling>
        <c:delete val="0"/>
        <c:axPos val="l"/>
        <c:majorGridlines>
          <c:spPr>
            <a:ln w="9525" cap="flat" cmpd="sng" algn="ctr">
              <a:solidFill>
                <a:srgbClr val="E0E0E0"/>
              </a:solidFill>
              <a:prstDash val="solid"/>
              <a:round/>
            </a:ln>
          </c:spPr>
        </c:majorGridlines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2796bed8-6b99-4cea-add6-31c5b3b139ae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1" Type="http://schemas.openxmlformats.org/officeDocument/2006/relationships/slideLayout" Target="../slideLayouts/slideLayout7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1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</a:defRPr>
            </a:pPr>
            <a:r>
              <a:t>Phase 2: 消融实验与超参数调优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888888"/>
                </a:solidFill>
              </a:defRPr>
            </a:pPr>
            <a:r>
              <a:t>KMU-FED 6类表情识别 · LOSO 12折交叉验证 · 20个消融实验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88888"/>
                </a:solidFill>
              </a:defRPr>
            </a:pPr>
            <a:r>
              <a:t>2026-07-17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实验设计总览: 6 组消融实验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</a:defRPr>
            </a:pPr>
            <a:r>
              <a:t>控制变量法逐维度消融，统一 LOSO 12折 + YOLO-only 协议</a:t>
            </a:r>
          </a:p>
        </p:txBody>
      </p:sp>
      <p:sp>
        <p:nvSpPr>
          <p:cNvPr id="4" name="Rounded Rectangle 3"/>
          <p:cNvSpPr/>
          <p:nvPr>
            <p:custDataLst>
              <p:tags r:id="rId1"/>
            </p:custDataLst>
          </p:nvPr>
        </p:nvSpPr>
        <p:spPr>
          <a:xfrm>
            <a:off x="731520" y="1371600"/>
            <a:ext cx="3291840" cy="201168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>
            <p:custDataLst>
              <p:tags r:id="rId2"/>
            </p:custDataLst>
          </p:nvPr>
        </p:nvSpPr>
        <p:spPr>
          <a:xfrm>
            <a:off x="914400" y="1554480"/>
            <a:ext cx="365760" cy="36576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1463040" y="15087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</a:defRPr>
            </a:pPr>
            <a:r>
              <a:t>A 组 · Backbone 消融</a:t>
            </a: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1005840" y="20574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100">
                <a:solidFill>
                  <a:srgbClr val="333333"/>
                </a:solidFill>
              </a:defRPr>
            </a:pPr>
            <a:r>
              <a:t>ResNet-18/34/50</a:t>
            </a:r>
            <a:br/>
            <a:r>
              <a:t>EfficientNet-B0</a:t>
            </a:r>
          </a:p>
        </p:txBody>
      </p:sp>
      <p:sp>
        <p:nvSpPr>
          <p:cNvPr id="8" name="Rounded Rectangle 7"/>
          <p:cNvSpPr/>
          <p:nvPr>
            <p:custDataLst>
              <p:tags r:id="rId5"/>
            </p:custDataLst>
          </p:nvPr>
        </p:nvSpPr>
        <p:spPr>
          <a:xfrm>
            <a:off x="3017520" y="2971800"/>
            <a:ext cx="822960" cy="2743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4 实验</a:t>
            </a:r>
          </a:p>
        </p:txBody>
      </p:sp>
      <p:sp>
        <p:nvSpPr>
          <p:cNvPr id="9" name="Rounded Rectangle 8"/>
          <p:cNvSpPr/>
          <p:nvPr>
            <p:custDataLst>
              <p:tags r:id="rId6"/>
            </p:custDataLst>
          </p:nvPr>
        </p:nvSpPr>
        <p:spPr>
          <a:xfrm>
            <a:off x="4297680" y="1371600"/>
            <a:ext cx="3291840" cy="201168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>
            <p:custDataLst>
              <p:tags r:id="rId7"/>
            </p:custDataLst>
          </p:nvPr>
        </p:nvSpPr>
        <p:spPr>
          <a:xfrm>
            <a:off x="4480560" y="1554480"/>
            <a:ext cx="365760" cy="36576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11" name="TextBox 10"/>
          <p:cNvSpPr txBox="1"/>
          <p:nvPr>
            <p:custDataLst>
              <p:tags r:id="rId8"/>
            </p:custDataLst>
          </p:nvPr>
        </p:nvSpPr>
        <p:spPr>
          <a:xfrm>
            <a:off x="5029200" y="15087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</a:defRPr>
            </a:pPr>
            <a:r>
              <a:t>B 组 · 学习率消融</a:t>
            </a:r>
          </a:p>
        </p:txBody>
      </p:sp>
      <p:sp>
        <p:nvSpPr>
          <p:cNvPr id="12" name="TextBox 11"/>
          <p:cNvSpPr txBox="1"/>
          <p:nvPr>
            <p:custDataLst>
              <p:tags r:id="rId9"/>
            </p:custDataLst>
          </p:nvPr>
        </p:nvSpPr>
        <p:spPr>
          <a:xfrm>
            <a:off x="4572000" y="20574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100">
                <a:solidFill>
                  <a:srgbClr val="333333"/>
                </a:solidFill>
              </a:defRPr>
            </a:pPr>
            <a:r>
              <a:t>lr = 1e-5 ~ 1e-3</a:t>
            </a:r>
            <a:br/>
            <a:r>
              <a:t>(5个数量级)</a:t>
            </a:r>
          </a:p>
        </p:txBody>
      </p:sp>
      <p:sp>
        <p:nvSpPr>
          <p:cNvPr id="13" name="Rounded Rectangle 12"/>
          <p:cNvSpPr/>
          <p:nvPr>
            <p:custDataLst>
              <p:tags r:id="rId10"/>
            </p:custDataLst>
          </p:nvPr>
        </p:nvSpPr>
        <p:spPr>
          <a:xfrm>
            <a:off x="6583680" y="2971800"/>
            <a:ext cx="822960" cy="2743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5 实验</a:t>
            </a:r>
          </a:p>
        </p:txBody>
      </p:sp>
      <p:sp>
        <p:nvSpPr>
          <p:cNvPr id="14" name="Rounded Rectangle 13"/>
          <p:cNvSpPr/>
          <p:nvPr>
            <p:custDataLst>
              <p:tags r:id="rId11"/>
            </p:custDataLst>
          </p:nvPr>
        </p:nvSpPr>
        <p:spPr>
          <a:xfrm>
            <a:off x="7863840" y="1371600"/>
            <a:ext cx="3291840" cy="201168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>
            <p:custDataLst>
              <p:tags r:id="rId12"/>
            </p:custDataLst>
          </p:nvPr>
        </p:nvSpPr>
        <p:spPr>
          <a:xfrm>
            <a:off x="8046720" y="1554480"/>
            <a:ext cx="365760" cy="36576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6" name="TextBox 15"/>
          <p:cNvSpPr txBox="1"/>
          <p:nvPr>
            <p:custDataLst>
              <p:tags r:id="rId13"/>
            </p:custDataLst>
          </p:nvPr>
        </p:nvSpPr>
        <p:spPr>
          <a:xfrm>
            <a:off x="8595360" y="15087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</a:defRPr>
            </a:pPr>
            <a:r>
              <a:t>C 组 · 优化器+调度器</a:t>
            </a:r>
          </a:p>
        </p:txBody>
      </p:sp>
      <p:sp>
        <p:nvSpPr>
          <p:cNvPr id="17" name="TextBox 16"/>
          <p:cNvSpPr txBox="1"/>
          <p:nvPr>
            <p:custDataLst>
              <p:tags r:id="rId14"/>
            </p:custDataLst>
          </p:nvPr>
        </p:nvSpPr>
        <p:spPr>
          <a:xfrm>
            <a:off x="8138160" y="20574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100">
                <a:solidFill>
                  <a:srgbClr val="333333"/>
                </a:solidFill>
              </a:defRPr>
            </a:pPr>
            <a:r>
              <a:t>Adam/AdamW/SGD</a:t>
            </a:r>
            <a:br/>
            <a:r>
              <a:t>Exp/Cos/Plateau</a:t>
            </a:r>
          </a:p>
        </p:txBody>
      </p:sp>
      <p:sp>
        <p:nvSpPr>
          <p:cNvPr id="18" name="Rounded Rectangle 17"/>
          <p:cNvSpPr/>
          <p:nvPr>
            <p:custDataLst>
              <p:tags r:id="rId15"/>
            </p:custDataLst>
          </p:nvPr>
        </p:nvSpPr>
        <p:spPr>
          <a:xfrm>
            <a:off x="10149840" y="2971800"/>
            <a:ext cx="822960" cy="2743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6 实验</a:t>
            </a:r>
          </a:p>
        </p:txBody>
      </p:sp>
      <p:sp>
        <p:nvSpPr>
          <p:cNvPr id="19" name="Rounded Rectangle 18"/>
          <p:cNvSpPr/>
          <p:nvPr>
            <p:custDataLst>
              <p:tags r:id="rId16"/>
            </p:custDataLst>
          </p:nvPr>
        </p:nvSpPr>
        <p:spPr>
          <a:xfrm>
            <a:off x="731520" y="3657600"/>
            <a:ext cx="3291840" cy="201168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>
            <p:custDataLst>
              <p:tags r:id="rId17"/>
            </p:custDataLst>
          </p:nvPr>
        </p:nvSpPr>
        <p:spPr>
          <a:xfrm>
            <a:off x="914400" y="3840480"/>
            <a:ext cx="365760" cy="36576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1" name="TextBox 20"/>
          <p:cNvSpPr txBox="1"/>
          <p:nvPr>
            <p:custDataLst>
              <p:tags r:id="rId18"/>
            </p:custDataLst>
          </p:nvPr>
        </p:nvSpPr>
        <p:spPr>
          <a:xfrm>
            <a:off x="1463040" y="37947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</a:defRPr>
            </a:pPr>
            <a:r>
              <a:t>D 组 · 正则化消融</a:t>
            </a:r>
          </a:p>
        </p:txBody>
      </p:sp>
      <p:sp>
        <p:nvSpPr>
          <p:cNvPr id="22" name="TextBox 21"/>
          <p:cNvSpPr txBox="1"/>
          <p:nvPr>
            <p:custDataLst>
              <p:tags r:id="rId19"/>
            </p:custDataLst>
          </p:nvPr>
        </p:nvSpPr>
        <p:spPr>
          <a:xfrm>
            <a:off x="1005840" y="43434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100">
                <a:solidFill>
                  <a:srgbClr val="333333"/>
                </a:solidFill>
              </a:defRPr>
            </a:pPr>
            <a:r>
              <a:t>Dropout / LabelSmooth</a:t>
            </a:r>
            <a:br/>
            <a:r>
              <a:t>Weight Decay</a:t>
            </a:r>
          </a:p>
        </p:txBody>
      </p:sp>
      <p:sp>
        <p:nvSpPr>
          <p:cNvPr id="23" name="Rounded Rectangle 22"/>
          <p:cNvSpPr/>
          <p:nvPr>
            <p:custDataLst>
              <p:tags r:id="rId20"/>
            </p:custDataLst>
          </p:nvPr>
        </p:nvSpPr>
        <p:spPr>
          <a:xfrm>
            <a:off x="3017520" y="5257800"/>
            <a:ext cx="822960" cy="2743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4 实验</a:t>
            </a:r>
          </a:p>
        </p:txBody>
      </p:sp>
      <p:sp>
        <p:nvSpPr>
          <p:cNvPr id="24" name="Rounded Rectangle 23"/>
          <p:cNvSpPr/>
          <p:nvPr>
            <p:custDataLst>
              <p:tags r:id="rId21"/>
            </p:custDataLst>
          </p:nvPr>
        </p:nvSpPr>
        <p:spPr>
          <a:xfrm>
            <a:off x="4297680" y="3657600"/>
            <a:ext cx="3291840" cy="201168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>
            <p:custDataLst>
              <p:tags r:id="rId22"/>
            </p:custDataLst>
          </p:nvPr>
        </p:nvSpPr>
        <p:spPr>
          <a:xfrm>
            <a:off x="4480560" y="3840480"/>
            <a:ext cx="365760" cy="36576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</a:t>
            </a:r>
          </a:p>
        </p:txBody>
      </p:sp>
      <p:sp>
        <p:nvSpPr>
          <p:cNvPr id="26" name="TextBox 25"/>
          <p:cNvSpPr txBox="1"/>
          <p:nvPr>
            <p:custDataLst>
              <p:tags r:id="rId23"/>
            </p:custDataLst>
          </p:nvPr>
        </p:nvSpPr>
        <p:spPr>
          <a:xfrm>
            <a:off x="5029200" y="37947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</a:defRPr>
            </a:pPr>
            <a:r>
              <a:t>E 组 · 数据增强</a:t>
            </a:r>
          </a:p>
        </p:txBody>
      </p:sp>
      <p:sp>
        <p:nvSpPr>
          <p:cNvPr id="27" name="TextBox 26"/>
          <p:cNvSpPr txBox="1"/>
          <p:nvPr>
            <p:custDataLst>
              <p:tags r:id="rId24"/>
            </p:custDataLst>
          </p:nvPr>
        </p:nvSpPr>
        <p:spPr>
          <a:xfrm>
            <a:off x="4572000" y="43434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100">
                <a:solidFill>
                  <a:srgbClr val="333333"/>
                </a:solidFill>
              </a:defRPr>
            </a:pPr>
            <a:r>
              <a:t>Geometric / Color</a:t>
            </a:r>
            <a:br/>
            <a:r>
              <a:t>MixUp / 组合</a:t>
            </a:r>
          </a:p>
        </p:txBody>
      </p:sp>
      <p:sp>
        <p:nvSpPr>
          <p:cNvPr id="28" name="Rounded Rectangle 27"/>
          <p:cNvSpPr/>
          <p:nvPr>
            <p:custDataLst>
              <p:tags r:id="rId25"/>
            </p:custDataLst>
          </p:nvPr>
        </p:nvSpPr>
        <p:spPr>
          <a:xfrm>
            <a:off x="6583680" y="5257800"/>
            <a:ext cx="822960" cy="2743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4 实验</a:t>
            </a:r>
          </a:p>
        </p:txBody>
      </p:sp>
      <p:sp>
        <p:nvSpPr>
          <p:cNvPr id="29" name="Rounded Rectangle 28"/>
          <p:cNvSpPr/>
          <p:nvPr>
            <p:custDataLst>
              <p:tags r:id="rId26"/>
            </p:custDataLst>
          </p:nvPr>
        </p:nvSpPr>
        <p:spPr>
          <a:xfrm>
            <a:off x="7863840" y="3657600"/>
            <a:ext cx="3291840" cy="201168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>
            <p:custDataLst>
              <p:tags r:id="rId27"/>
            </p:custDataLst>
          </p:nvPr>
        </p:nvSpPr>
        <p:spPr>
          <a:xfrm>
            <a:off x="8046720" y="3840480"/>
            <a:ext cx="365760" cy="36576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</a:t>
            </a:r>
          </a:p>
        </p:txBody>
      </p:sp>
      <p:sp>
        <p:nvSpPr>
          <p:cNvPr id="31" name="TextBox 30"/>
          <p:cNvSpPr txBox="1"/>
          <p:nvPr>
            <p:custDataLst>
              <p:tags r:id="rId28"/>
            </p:custDataLst>
          </p:nvPr>
        </p:nvSpPr>
        <p:spPr>
          <a:xfrm>
            <a:off x="8595360" y="37947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</a:defRPr>
            </a:pPr>
            <a:r>
              <a:t>F 组 · 最优组合</a:t>
            </a:r>
          </a:p>
        </p:txBody>
      </p:sp>
      <p:sp>
        <p:nvSpPr>
          <p:cNvPr id="32" name="TextBox 31"/>
          <p:cNvSpPr txBox="1"/>
          <p:nvPr>
            <p:custDataLst>
              <p:tags r:id="rId29"/>
            </p:custDataLst>
          </p:nvPr>
        </p:nvSpPr>
        <p:spPr>
          <a:xfrm>
            <a:off x="8138160" y="43434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100">
                <a:solidFill>
                  <a:srgbClr val="333333"/>
                </a:solidFill>
              </a:defRPr>
            </a:pPr>
            <a:r>
              <a:t>各组最优因素的</a:t>
            </a:r>
            <a:br/>
            <a:r>
              <a:t>交叉组合验证</a:t>
            </a:r>
          </a:p>
        </p:txBody>
      </p:sp>
      <p:sp>
        <p:nvSpPr>
          <p:cNvPr id="33" name="Rounded Rectangle 32"/>
          <p:cNvSpPr/>
          <p:nvPr>
            <p:custDataLst>
              <p:tags r:id="rId30"/>
            </p:custDataLst>
          </p:nvPr>
        </p:nvSpPr>
        <p:spPr>
          <a:xfrm>
            <a:off x="10149840" y="5257800"/>
            <a:ext cx="822960" cy="2743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1 实验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Phase 2 实验完整总表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</a:defRPr>
            </a:pPr>
            <a:r>
              <a:t>按准确率降序排列 · 绿色=最优 · 橙色=终止/崩溃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0467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411480"/>
                <a:gridCol w="1417320"/>
                <a:gridCol w="731520"/>
                <a:gridCol w="868680"/>
                <a:gridCol w="868680"/>
                <a:gridCol w="1005840"/>
                <a:gridCol w="1005840"/>
                <a:gridCol w="1097280"/>
              </a:tblGrid>
              <a:tr h="25254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实验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组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Backbone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参数量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优化器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调度器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增强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正则化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Acc±Std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</a:tr>
              <a:tr h="25254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C3E50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C3E50"/>
                          </a:solidFill>
                        </a:defRPr>
                      </a:pPr>
                      <a:r>
                        <a:t>F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C3E50"/>
                          </a:solidFill>
                        </a:defRPr>
                      </a:pPr>
                      <a:r>
                        <a:t>ResNet-50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C3E50"/>
                          </a:solidFill>
                        </a:defRPr>
                      </a:pPr>
                      <a:r>
                        <a:t>23.5M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C3E50"/>
                          </a:solidFill>
                        </a:defRPr>
                      </a:pPr>
                      <a:r>
                        <a:t>AdamW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C3E50"/>
                          </a:solidFill>
                        </a:defRPr>
                      </a:pPr>
                      <a:r>
                        <a:t>Cos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C3E50"/>
                          </a:solidFill>
                        </a:defRPr>
                      </a:pPr>
                      <a:r>
                        <a:t>Geo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C3E50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C3E50"/>
                          </a:solidFill>
                        </a:defRPr>
                      </a:pPr>
                      <a:r>
                        <a:t>89.31% ± 10.38%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</a:tr>
              <a:tr h="25254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C5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ResNet-50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23.5M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AdamW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Cos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80.09% ± 7.55%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</a:tr>
              <a:tr h="25254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E2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ResNet-50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23.5M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Adam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Cos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Geo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79.62% ± 8.62%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254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D2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D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ResNet-50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23.5M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AdamW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Cos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Drop0.5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79.18% ± 11.78%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</a:tr>
              <a:tr h="25254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C3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ResNet-50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23.5M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Adam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Cos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78.44% ± 9.55%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254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C2b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ResNet-50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23.5M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SGD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Cos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77.78% ± 11.71%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</a:tr>
              <a:tr h="25254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D4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ResNet-50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23.5M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AdamW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Cos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WD=1e-3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77.10% ± 14.72%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254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ResNet-50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23.5M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Adam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Exp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76.92% ± 11.86%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</a:tr>
              <a:tr h="25254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D3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ResNet-50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23.5M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Adam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Cos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LSmooth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73.66% ± 11.20%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254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D1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D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ResNet-50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23.5M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Adam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Cos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Drop0.3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73.68% ± 9.48%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</a:tr>
              <a:tr h="25254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ResNet-18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11.2M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Adam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Exp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73.09% ± 13.60%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254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ResNet-18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11.2M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Adam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Exp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73.03% ± 11.76%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</a:tr>
              <a:tr h="25254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ResNet-34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21.3M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Adam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Exp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72.86% ± 9.82%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254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C4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ResNet-50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23.5M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Adam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Plateau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71.30% ± 12.10%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</a:tr>
              <a:tr h="25254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E4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ResNet-50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23.5M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Adam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Cos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MixUp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71.19% ± 10.42%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254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ResNet-50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23.5M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AdamW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Exp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70.81% ± 12.49%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</a:tr>
              <a:tr h="25254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A4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EfficientNet-B0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5.3M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Adam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Exp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70.01% ± 16.63%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254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888888"/>
                          </a:solidFill>
                        </a:defRPr>
                      </a:pPr>
                      <a:r>
                        <a:t>E3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888888"/>
                          </a:solidFill>
                        </a:defRPr>
                      </a:pPr>
                      <a:r>
                        <a:t>E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888888"/>
                          </a:solidFill>
                        </a:defRPr>
                      </a:pPr>
                      <a:r>
                        <a:t>ResNet-50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888888"/>
                          </a:solidFill>
                        </a:defRPr>
                      </a:pPr>
                      <a:r>
                        <a:t>23.5M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888888"/>
                          </a:solidFill>
                        </a:defRPr>
                      </a:pPr>
                      <a:r>
                        <a:t>AdamW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888888"/>
                          </a:solidFill>
                        </a:defRPr>
                      </a:pPr>
                      <a:r>
                        <a:t>Cos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888888"/>
                          </a:solidFill>
                        </a:defRPr>
                      </a:pPr>
                      <a:r>
                        <a:t>Geo+Color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888888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888888"/>
                          </a:solidFill>
                        </a:defRPr>
                      </a:pPr>
                      <a:r>
                        <a:t>24.78% ± 7.54%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</a:tr>
              <a:tr h="25254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888888"/>
                          </a:solidFill>
                        </a:defRPr>
                      </a:pPr>
                      <a:r>
                        <a:t>E1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888888"/>
                          </a:solidFill>
                        </a:defRPr>
                      </a:pPr>
                      <a:r>
                        <a:t>E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888888"/>
                          </a:solidFill>
                        </a:defRPr>
                      </a:pPr>
                      <a:r>
                        <a:t>ResNet-50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888888"/>
                          </a:solidFill>
                        </a:defRPr>
                      </a:pPr>
                      <a:r>
                        <a:t>23.5M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888888"/>
                          </a:solidFill>
                        </a:defRPr>
                      </a:pPr>
                      <a:r>
                        <a:t>Adam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888888"/>
                          </a:solidFill>
                        </a:defRPr>
                      </a:pPr>
                      <a:r>
                        <a:t>Cos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888888"/>
                          </a:solidFill>
                        </a:defRPr>
                      </a:pPr>
                      <a:r>
                        <a:t>Color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888888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888888"/>
                          </a:solidFill>
                        </a:defRPr>
                      </a:pPr>
                      <a:r>
                        <a:t>终止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</a:tr>
              <a:tr h="2525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888888"/>
                          </a:solidFill>
                        </a:defRPr>
                      </a:pPr>
                      <a:r>
                        <a:t>C2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888888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888888"/>
                          </a:solidFill>
                        </a:defRPr>
                      </a:pPr>
                      <a:r>
                        <a:t>ResNet-50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888888"/>
                          </a:solidFill>
                        </a:defRPr>
                      </a:pPr>
                      <a:r>
                        <a:t>23.5M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888888"/>
                          </a:solidFill>
                        </a:defRPr>
                      </a:pPr>
                      <a:r>
                        <a:t>SGD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888888"/>
                          </a:solidFill>
                        </a:defRPr>
                      </a:pPr>
                      <a:r>
                        <a:t>Exp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888888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888888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888888"/>
                          </a:solidFill>
                        </a:defRPr>
                      </a:pPr>
                      <a:r>
                        <a:t>终止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922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A组: Backbone消融  |  B组: 学习率消融  |  C组: 优化器+调度器  |  D组: 正则化  |  E组: 数据增强  |  F组: 最优组合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A 组: Backbone 消融对比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284605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</a:defRPr>
            </a:pPr>
            <a:r>
              <a:t>Backbone 不同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0" y="18288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 b="1">
                <a:solidFill>
                  <a:srgbClr val="2C3E50"/>
                </a:solidFill>
              </a:defRPr>
            </a:pPr>
            <a:r>
              <a:t>结论</a:t>
            </a:r>
          </a:p>
          <a:p>
            <a:pPr>
              <a:lnSpc>
                <a:spcPts val="1600"/>
              </a:lnSpc>
              <a:defRPr sz="1000" b="0">
                <a:solidFill>
                  <a:srgbClr val="333333"/>
                </a:solidFill>
              </a:defRPr>
            </a:pPr>
          </a:p>
          <a:p>
            <a:pPr>
              <a:lnSpc>
                <a:spcPts val="1600"/>
              </a:lnSpc>
              <a:defRPr sz="1000" b="0">
                <a:solidFill>
                  <a:srgbClr val="333333"/>
                </a:solidFill>
              </a:defRPr>
            </a:pPr>
            <a:r>
              <a:t>ResNet-50 显著最优</a:t>
            </a:r>
          </a:p>
          <a:p>
            <a:pPr>
              <a:lnSpc>
                <a:spcPts val="1600"/>
              </a:lnSpc>
              <a:defRPr sz="1000" b="0">
                <a:solidFill>
                  <a:srgbClr val="888888"/>
                </a:solidFill>
              </a:defRPr>
            </a:pPr>
            <a:r>
              <a:t>+3.89pp vs RN34</a:t>
            </a:r>
          </a:p>
          <a:p>
            <a:pPr>
              <a:lnSpc>
                <a:spcPts val="1600"/>
              </a:lnSpc>
              <a:defRPr sz="1000" b="0">
                <a:solidFill>
                  <a:srgbClr val="333333"/>
                </a:solidFill>
              </a:defRPr>
            </a:pPr>
          </a:p>
          <a:p>
            <a:pPr>
              <a:lnSpc>
                <a:spcPts val="1600"/>
              </a:lnSpc>
              <a:defRPr sz="1000" b="0">
                <a:solidFill>
                  <a:srgbClr val="333333"/>
                </a:solidFill>
              </a:defRPr>
            </a:pPr>
            <a:r>
              <a:t>EfficientNet-B0</a:t>
            </a:r>
          </a:p>
          <a:p>
            <a:pPr>
              <a:lnSpc>
                <a:spcPts val="1600"/>
              </a:lnSpc>
              <a:defRPr sz="1000" b="0">
                <a:solidFill>
                  <a:srgbClr val="888888"/>
                </a:solidFill>
              </a:defRPr>
            </a:pPr>
            <a:r>
              <a:t>精度最低 + 方差最大</a:t>
            </a:r>
          </a:p>
          <a:p>
            <a:pPr>
              <a:lnSpc>
                <a:spcPts val="1600"/>
              </a:lnSpc>
              <a:defRPr sz="1000" b="0">
                <a:solidFill>
                  <a:srgbClr val="888888"/>
                </a:solidFill>
              </a:defRPr>
            </a:pPr>
            <a:r>
              <a:t>不适合小数据FER</a:t>
            </a:r>
          </a:p>
          <a:p>
            <a:pPr>
              <a:lnSpc>
                <a:spcPts val="1600"/>
              </a:lnSpc>
              <a:defRPr sz="1000" b="0">
                <a:solidFill>
                  <a:srgbClr val="333333"/>
                </a:solidFill>
              </a:defRPr>
            </a:pPr>
          </a:p>
          <a:p>
            <a:pPr>
              <a:lnSpc>
                <a:spcPts val="1600"/>
              </a:lnSpc>
              <a:defRPr sz="1000" b="0">
                <a:solidFill>
                  <a:srgbClr val="333333"/>
                </a:solidFill>
              </a:defRPr>
            </a:pPr>
            <a:r>
              <a:t>RN18 vs RN34</a:t>
            </a:r>
          </a:p>
          <a:p>
            <a:pPr>
              <a:lnSpc>
                <a:spcPts val="1600"/>
              </a:lnSpc>
              <a:defRPr sz="1000" b="0">
                <a:solidFill>
                  <a:srgbClr val="888888"/>
                </a:solidFill>
              </a:defRPr>
            </a:pPr>
            <a:r>
              <a:t>参数量×2 精度不变</a:t>
            </a:r>
          </a:p>
          <a:p>
            <a:pPr>
              <a:lnSpc>
                <a:spcPts val="1600"/>
              </a:lnSpc>
              <a:defRPr sz="1000" b="0">
                <a:solidFill>
                  <a:srgbClr val="888888"/>
                </a:solidFill>
              </a:defRPr>
            </a:pPr>
            <a:r>
              <a:t>RN18 性价比最优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C 组: 优化器 + 调度器消融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304419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</a:defRPr>
            </a:pPr>
            <a:r>
              <a:t>ResNet-50, lr=2e-4, 同协议 (YOLO-only)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371600"/>
          <a:ext cx="7772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61120" y="1828800"/>
            <a:ext cx="2743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100" b="1">
                <a:solidFill>
                  <a:srgbClr val="2C3E50"/>
                </a:solidFill>
              </a:defRPr>
            </a:pPr>
            <a:r>
              <a:t>关键发现</a:t>
            </a:r>
          </a:p>
          <a:p>
            <a:pPr>
              <a:lnSpc>
                <a:spcPts val="1500"/>
              </a:lnSpc>
              <a:defRPr sz="1000" b="0">
                <a:solidFill>
                  <a:srgbClr val="333333"/>
                </a:solidFill>
              </a:defRPr>
            </a:pPr>
          </a:p>
          <a:p>
            <a:pPr>
              <a:lnSpc>
                <a:spcPts val="1500"/>
              </a:lnSpc>
              <a:defRPr sz="1000" b="0">
                <a:solidFill>
                  <a:srgbClr val="333333"/>
                </a:solidFill>
              </a:defRPr>
            </a:pPr>
            <a:r>
              <a:t>1. CosineAnnealingLR</a:t>
            </a:r>
          </a:p>
          <a:p>
            <a:pPr>
              <a:lnSpc>
                <a:spcPts val="1500"/>
              </a:lnSpc>
              <a:defRPr sz="1000" b="0">
                <a:solidFill>
                  <a:srgbClr val="888888"/>
                </a:solidFill>
              </a:defRPr>
            </a:pPr>
            <a:r>
              <a:t>   是最优调度器</a:t>
            </a:r>
          </a:p>
          <a:p>
            <a:pPr>
              <a:lnSpc>
                <a:spcPts val="1500"/>
              </a:lnSpc>
              <a:defRPr sz="1000" b="0">
                <a:solidFill>
                  <a:srgbClr val="888888"/>
                </a:solidFill>
              </a:defRPr>
            </a:pPr>
            <a:r>
              <a:t>   Cos &gt; Plateau &gt; Exp</a:t>
            </a:r>
          </a:p>
          <a:p>
            <a:pPr>
              <a:lnSpc>
                <a:spcPts val="1500"/>
              </a:lnSpc>
              <a:defRPr sz="1000" b="0">
                <a:solidFill>
                  <a:srgbClr val="333333"/>
                </a:solidFill>
              </a:defRPr>
            </a:pPr>
          </a:p>
          <a:p>
            <a:pPr>
              <a:lnSpc>
                <a:spcPts val="1500"/>
              </a:lnSpc>
              <a:defRPr sz="1000" b="0">
                <a:solidFill>
                  <a:srgbClr val="333333"/>
                </a:solidFill>
              </a:defRPr>
            </a:pPr>
            <a:r>
              <a:t>2. AdamW+Cos 最优</a:t>
            </a:r>
          </a:p>
          <a:p>
            <a:pPr>
              <a:lnSpc>
                <a:spcPts val="1500"/>
              </a:lnSpc>
              <a:defRPr sz="1000" b="0">
                <a:solidFill>
                  <a:srgbClr val="888888"/>
                </a:solidFill>
              </a:defRPr>
            </a:pPr>
            <a:r>
              <a:t>   AdamW+Cos &gt; Adam+Cos</a:t>
            </a:r>
          </a:p>
          <a:p>
            <a:pPr>
              <a:lnSpc>
                <a:spcPts val="1500"/>
              </a:lnSpc>
              <a:defRPr sz="1000" b="0">
                <a:solidFill>
                  <a:srgbClr val="888888"/>
                </a:solidFill>
              </a:defRPr>
            </a:pPr>
            <a:r>
              <a:t>   (+1.65pp)</a:t>
            </a:r>
          </a:p>
          <a:p>
            <a:pPr>
              <a:lnSpc>
                <a:spcPts val="1500"/>
              </a:lnSpc>
              <a:defRPr sz="1000" b="0">
                <a:solidFill>
                  <a:srgbClr val="333333"/>
                </a:solidFill>
              </a:defRPr>
            </a:pPr>
          </a:p>
          <a:p>
            <a:pPr>
              <a:lnSpc>
                <a:spcPts val="1500"/>
              </a:lnSpc>
              <a:defRPr sz="1000" b="0">
                <a:solidFill>
                  <a:srgbClr val="333333"/>
                </a:solidFill>
              </a:defRPr>
            </a:pPr>
            <a:r>
              <a:t>3. AdamW+Exp 惨败</a:t>
            </a:r>
          </a:p>
          <a:p>
            <a:pPr>
              <a:lnSpc>
                <a:spcPts val="1500"/>
              </a:lnSpc>
              <a:defRPr sz="1000" b="0">
                <a:solidFill>
                  <a:srgbClr val="888888"/>
                </a:solidFill>
              </a:defRPr>
            </a:pPr>
            <a:r>
              <a:t>   比 Adam+Exp 低 6.1pp</a:t>
            </a:r>
          </a:p>
          <a:p>
            <a:pPr>
              <a:lnSpc>
                <a:spcPts val="1500"/>
              </a:lnSpc>
              <a:defRPr sz="1000" b="0">
                <a:solidFill>
                  <a:srgbClr val="333333"/>
                </a:solidFill>
              </a:defRPr>
            </a:pPr>
            <a:r>
              <a:t>   → AdamW必须配Cosine!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D 组: 正则化  &amp;  E 组: 数据增强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</a:defRPr>
            </a:pPr>
            <a:r>
              <a:t>小数据集FER: 正则化全部有害, ColorJitter 灾难性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5029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669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D7D31"/>
                </a:solidFill>
              </a:defRPr>
            </a:pPr>
            <a:r>
              <a:t>所有正则化均低于基线 → 小数据集不需要额外正则化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217920" y="1371600"/>
          <a:ext cx="5029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5669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D7D31"/>
                </a:solidFill>
              </a:defRPr>
            </a:pPr>
            <a:r>
              <a:t>ColorJitter 破坏表情纹理 → E3 崩溃至 24.78%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核心发现: Geometric × YOLO 协同效应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371600"/>
          <a:ext cx="64008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560320" y="32004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← +1.18pp (Haar)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2743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D7D31"/>
                </a:solidFill>
              </a:defRPr>
            </a:pPr>
            <a:r>
              <a:t>+9.22pp (YOLO)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2880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100" b="1">
                <a:solidFill>
                  <a:srgbClr val="2C3E50"/>
                </a:solidFill>
              </a:defRPr>
            </a:pPr>
            <a:r>
              <a:t>协同效应解释</a:t>
            </a:r>
          </a:p>
          <a:p>
            <a:pPr>
              <a:lnSpc>
                <a:spcPts val="1500"/>
              </a:lnSpc>
              <a:defRPr sz="1000" b="0">
                <a:solidFill>
                  <a:srgbClr val="333333"/>
                </a:solidFill>
              </a:defRPr>
            </a:pPr>
          </a:p>
          <a:p>
            <a:pPr>
              <a:lnSpc>
                <a:spcPts val="1500"/>
              </a:lnSpc>
              <a:defRPr sz="1100" b="1">
                <a:solidFill>
                  <a:srgbClr val="333333"/>
                </a:solidFill>
              </a:defRPr>
            </a:pPr>
            <a:r>
              <a:t>Haar Cascade</a:t>
            </a:r>
          </a:p>
          <a:p>
            <a:pPr>
              <a:lnSpc>
                <a:spcPts val="1500"/>
              </a:lnSpc>
              <a:defRPr sz="1000" b="0">
                <a:solidFill>
                  <a:srgbClr val="888888"/>
                </a:solidFill>
              </a:defRPr>
            </a:pPr>
            <a:r>
              <a:t>tight face crop</a:t>
            </a:r>
          </a:p>
          <a:p>
            <a:pPr>
              <a:lnSpc>
                <a:spcPts val="1500"/>
              </a:lnSpc>
              <a:defRPr sz="1000" b="0">
                <a:solidFill>
                  <a:srgbClr val="888888"/>
                </a:solidFill>
              </a:defRPr>
            </a:pPr>
            <a:r>
              <a:t>已裁掉大部分姿态信息</a:t>
            </a:r>
          </a:p>
          <a:p>
            <a:pPr>
              <a:lnSpc>
                <a:spcPts val="1500"/>
              </a:lnSpc>
              <a:defRPr sz="1000" b="0">
                <a:solidFill>
                  <a:srgbClr val="888888"/>
                </a:solidFill>
              </a:defRPr>
            </a:pPr>
            <a:r>
              <a:t>Geo 增益自然受限</a:t>
            </a:r>
          </a:p>
          <a:p>
            <a:pPr>
              <a:lnSpc>
                <a:spcPts val="1500"/>
              </a:lnSpc>
              <a:defRPr sz="1000" b="0">
                <a:solidFill>
                  <a:srgbClr val="333333"/>
                </a:solidFill>
              </a:defRPr>
            </a:pPr>
          </a:p>
          <a:p>
            <a:pPr>
              <a:lnSpc>
                <a:spcPts val="1500"/>
              </a:lnSpc>
              <a:defRPr sz="1100" b="1">
                <a:solidFill>
                  <a:srgbClr val="333333"/>
                </a:solidFill>
              </a:defRPr>
            </a:pPr>
            <a:r>
              <a:t>YOLOv8n</a:t>
            </a:r>
          </a:p>
          <a:p>
            <a:pPr>
              <a:lnSpc>
                <a:spcPts val="1500"/>
              </a:lnSpc>
              <a:defRPr sz="1000" b="0">
                <a:solidFill>
                  <a:srgbClr val="888888"/>
                </a:solidFill>
              </a:defRPr>
            </a:pPr>
            <a:r>
              <a:t>wider crop 保留空间上下文</a:t>
            </a:r>
          </a:p>
          <a:p>
            <a:pPr>
              <a:lnSpc>
                <a:spcPts val="1500"/>
              </a:lnSpc>
              <a:defRPr sz="1000" b="0">
                <a:solidFill>
                  <a:srgbClr val="888888"/>
                </a:solidFill>
              </a:defRPr>
            </a:pPr>
            <a:r>
              <a:t>(头部姿态、肩膀轮廓)</a:t>
            </a:r>
          </a:p>
          <a:p>
            <a:pPr>
              <a:lnSpc>
                <a:spcPts val="1500"/>
              </a:lnSpc>
              <a:defRPr sz="1000" b="0">
                <a:solidFill>
                  <a:srgbClr val="888888"/>
                </a:solidFill>
              </a:defRPr>
            </a:pPr>
            <a:r>
              <a:t>Geo 训练出姿态不变性</a:t>
            </a:r>
          </a:p>
          <a:p>
            <a:pPr>
              <a:lnSpc>
                <a:spcPts val="1500"/>
              </a:lnSpc>
              <a:defRPr sz="1000" b="0">
                <a:solidFill>
                  <a:srgbClr val="333333"/>
                </a:solidFill>
              </a:defRPr>
            </a:pPr>
          </a:p>
          <a:p>
            <a:pPr>
              <a:lnSpc>
                <a:spcPts val="1500"/>
              </a:lnSpc>
              <a:defRPr sz="1100" b="1">
                <a:solidFill>
                  <a:srgbClr val="ED7D31"/>
                </a:solidFill>
              </a:defRPr>
            </a:pPr>
            <a:r>
              <a:t>协同因子: ×7.8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YOLO wider crop 保留空间上下文 → Geometric 增强学会真正的姿态不变性 → 89.31%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F1 最优组合: 12 折交叉验证详情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</a:defRPr>
            </a:pPr>
            <a:r>
              <a:t>ResNet-50 + AdamW + Cosine + Geometric + YOLO-only  |  89.31% ± 10.38%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88720"/>
          <a:ext cx="1124712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0" y="91440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ED7D31"/>
                </a:solidFill>
              </a:defRPr>
            </a:pPr>
            <a:r>
              <a:t>均值: 89.31%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88888"/>
                </a:solidFill>
              </a:defRPr>
            </a:pPr>
            <a:r>
              <a:t>2 折满分 (S4, S8)  |  5 折 &gt; 90%  |  S11/S12 缺类瓶颈 (75%/64%)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各维度最优选择总结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332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743200"/>
                <a:gridCol w="274320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最优选择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次优选择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关键备注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C3E50"/>
                          </a:solidFill>
                        </a:defRPr>
                      </a:pPr>
                      <a:r>
                        <a:t>Backbone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472C4"/>
                          </a:solidFill>
                        </a:defRPr>
                      </a:pPr>
                      <a:r>
                        <a:t>ResNet-50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ResNet-18 (性价比)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+3.89pp vs RN34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C3E50"/>
                          </a:solidFill>
                        </a:defRPr>
                      </a:pPr>
                      <a:r>
                        <a:t>优化器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472C4"/>
                          </a:solidFill>
                        </a:defRPr>
                      </a:pPr>
                      <a:r>
                        <a:t>AdamW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Adam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+1.65pp vs Adam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C3E50"/>
                          </a:solidFill>
                        </a:defRPr>
                      </a:pPr>
                      <a:r>
                        <a:t>调度器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472C4"/>
                          </a:solidFill>
                        </a:defRPr>
                      </a:pPr>
                      <a:r>
                        <a:t>CosineAnnealingLR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ExponentialLR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+1.52pp vs Exp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C3E50"/>
                          </a:solidFill>
                        </a:defRPr>
                      </a:pPr>
                      <a:r>
                        <a:t>学习率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472C4"/>
                          </a:solidFill>
                        </a:defRPr>
                      </a:pPr>
                      <a:r>
                        <a:t>2e-4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5e-4 (RN18)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RN50 用 2e-4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C3E50"/>
                          </a:solidFill>
                        </a:defRPr>
                      </a:pPr>
                      <a:r>
                        <a:t>权重衰减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472C4"/>
                          </a:solidFill>
                        </a:defRPr>
                      </a:pPr>
                      <a:r>
                        <a:t>1e-4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1e-3 显著有害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C3E50"/>
                          </a:solidFill>
                        </a:defRPr>
                      </a:pPr>
                      <a:r>
                        <a:t>数据增强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472C4"/>
                          </a:solidFill>
                        </a:defRPr>
                      </a:pPr>
                      <a:r>
                        <a:t>Geometric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无增强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+9.22pp (YOLO)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C3E50"/>
                          </a:solidFill>
                        </a:defRPr>
                      </a:pPr>
                      <a:r>
                        <a:t>正则化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472C4"/>
                          </a:solidFill>
                        </a:defRPr>
                      </a:pPr>
                      <a:r>
                        <a:t>不使用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全部低于基线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 gridSpan="4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最优组合 → F1 = 89.31% ± 10.38%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结论与下一步工作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371600"/>
            <a:ext cx="457200" cy="45720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3716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KMU-FED 最优配置确定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7830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</a:defRPr>
            </a:pPr>
            <a:r>
              <a:t>ResNet-50 + AdamW + Cosine + Geometric + YOLO → 89.31% ± 10.38%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834640"/>
            <a:ext cx="457200" cy="45720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8346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Geo × YOLO 协同效应 (最大发现)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2461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</a:defRPr>
            </a:pPr>
            <a:r>
              <a:t>YOLO wider crop 保留空间上下文, Geometric 训练出姿态不变性, 增益 ×7.8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297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小数据集 FER 铁律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7091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</a:defRPr>
            </a:pPr>
            <a:r>
              <a:t>正则化全部有害, ColorJitter 灾难性 → 数据增强需谨慎选择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486400"/>
            <a:ext cx="1005840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5778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t>下一步方向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8888"/>
                </a:solidFill>
              </a:defRPr>
            </a:pPr>
            <a:r>
              <a:t>更大 Backbone (ResNet-101, ViT)  |  跨数据集验证 (RAF-DB, AffectNet)  |  论文对标: 89.31% 远超已有方法 79%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2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3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4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5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6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7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8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9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10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11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12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13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14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15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16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17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18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19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20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21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22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23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24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25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26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27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28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29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ags/tag30.xml><?xml version="1.0" encoding="utf-8"?>
<p:tagLst xmlns:p="http://schemas.openxmlformats.org/presentationml/2006/main">
  <p:tag name="KSO_WM_DIAGRAM_VIRTUALLY_FRAME" val="{&quot;height&quot;:338.4,&quot;left&quot;:57.6,&quot;top&quot;:108,&quot;width&quot;:820.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2895</Words>
  <Application>WPS 演示</Application>
  <PresentationFormat>On-screen Show (4:3)</PresentationFormat>
  <Paragraphs>613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张伯平</cp:lastModifiedBy>
  <cp:revision>3</cp:revision>
  <dcterms:created xsi:type="dcterms:W3CDTF">2013-01-27T09:14:00Z</dcterms:created>
  <dcterms:modified xsi:type="dcterms:W3CDTF">2026-07-17T01:28:18Z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93C5EA7ABA9F48C8AD34F1EC8DB161C6_12</vt:lpwstr>
  </property>
  <property fmtid="{D5CDD505-2E9C-101B-9397-08002B2CF9AE}" pid="3" name="KSOProductBuildVer">
    <vt:lpwstr>2052-12.1.0.26375</vt:lpwstr>
  </property>
</Properties>
</file>