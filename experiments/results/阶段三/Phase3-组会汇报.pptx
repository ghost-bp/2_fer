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4472C4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ED7D31"/>
              </a:solidFill>
            </c:spPr>
          </c:dPt>
          <c:dPt>
            <c:idx val="1"/>
            <c:invertIfNegative val="0"/>
            <c:bubble3D val="0"/>
            <c:spPr>
              <a:solidFill>
                <a:srgbClr val="4472C4"/>
              </a:solidFill>
            </c:spPr>
          </c:dPt>
          <c:dPt>
            <c:idx val="2"/>
            <c:invertIfNegative val="0"/>
            <c:bubble3D val="0"/>
            <c:spPr>
              <a:solidFill>
                <a:srgbClr val="4472C4"/>
              </a:solidFill>
            </c:spPr>
          </c:dPt>
          <c:dPt>
            <c:idx val="3"/>
            <c:invertIfNegative val="0"/>
            <c:bubble3D val="0"/>
            <c:spPr>
              <a:solidFill>
                <a:srgbClr val="4472C4"/>
              </a:solidFill>
            </c:spPr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RN50
(23.5M)</c:v>
                </c:pt>
                <c:pt idx="1">
                  <c:v>RN34
(21.3M)</c:v>
                </c:pt>
                <c:pt idx="2">
                  <c:v>RN18
(11.2M)</c:v>
                </c:pt>
                <c:pt idx="3">
                  <c:v>EfficientNet-B0
(5.3M)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76.92</c:v>
                </c:pt>
                <c:pt idx="1">
                  <c:v>72.86</c:v>
                </c:pt>
                <c:pt idx="2">
                  <c:v>73.03</c:v>
                </c:pt>
                <c:pt idx="3">
                  <c:v>70.01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 cap="flat" cmpd="sng" algn="ctr">
            <a:solidFill>
              <a:srgbClr val="E0E0E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5"/>
          <c:min val="0"/>
        </c:scaling>
        <c:delete val="0"/>
        <c:axPos val="l"/>
        <c:majorGridlines>
          <c:spPr>
            <a:ln w="9525" cap="flat" cmpd="sng" algn="ctr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525" cap="flat" cmpd="sng" algn="ctr">
            <a:solidFill>
              <a:srgbClr val="E0E0E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fa43c906-6ba2-4ec6-8734-b662871b2c7e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4472C4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ED7D31"/>
              </a:solidFill>
            </c:spPr>
          </c:dPt>
          <c:dPt>
            <c:idx val="1"/>
            <c:invertIfNegative val="0"/>
            <c:bubble3D val="0"/>
            <c:spPr>
              <a:solidFill>
                <a:srgbClr val="4472C4"/>
              </a:solidFill>
            </c:spPr>
          </c:dPt>
          <c:dPt>
            <c:idx val="2"/>
            <c:invertIfNegative val="0"/>
            <c:bubble3D val="0"/>
            <c:spPr>
              <a:solidFill>
                <a:srgbClr val="4472C4"/>
              </a:solidFill>
            </c:spPr>
          </c:dPt>
          <c:dPt>
            <c:idx val="3"/>
            <c:invertIfNegative val="0"/>
            <c:bubble3D val="0"/>
            <c:spPr>
              <a:solidFill>
                <a:srgbClr val="4472C4"/>
              </a:solidFill>
            </c:spPr>
          </c:dPt>
          <c:dPt>
            <c:idx val="4"/>
            <c:invertIfNegative val="0"/>
            <c:bubble3D val="0"/>
            <c:spPr>
              <a:solidFill>
                <a:srgbClr val="4472C4"/>
              </a:solidFill>
            </c:spPr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C5
AdamW+Cos</c:v>
                </c:pt>
                <c:pt idx="1">
                  <c:v>C3
Adam+Cos</c:v>
                </c:pt>
                <c:pt idx="2">
                  <c:v>C2b
SGD+Cos</c:v>
                </c:pt>
                <c:pt idx="3">
                  <c:v>C1
AdamW+Exp</c:v>
                </c:pt>
                <c:pt idx="4">
                  <c:v>C4
Adam+
Plateau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80.09</c:v>
                </c:pt>
                <c:pt idx="1">
                  <c:v>78.44</c:v>
                </c:pt>
                <c:pt idx="2">
                  <c:v>77.78</c:v>
                </c:pt>
                <c:pt idx="3">
                  <c:v>70.81</c:v>
                </c:pt>
                <c:pt idx="4">
                  <c:v>71.3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 cap="flat" cmpd="sng" algn="ctr">
            <a:solidFill>
              <a:srgbClr val="E0E0E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5"/>
          <c:min val="0"/>
        </c:scaling>
        <c:delete val="0"/>
        <c:axPos val="l"/>
        <c:majorGridlines>
          <c:spPr>
            <a:ln w="9525" cap="flat" cmpd="sng" algn="ctr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525" cap="flat" cmpd="sng" algn="ctr">
            <a:solidFill>
              <a:srgbClr val="E0E0E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237387d5-867d-4ba6-824b-d114fb00d89d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4472C4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ED7D31"/>
              </a:solidFill>
            </c:spPr>
          </c:dPt>
          <c:dPt>
            <c:idx val="1"/>
            <c:invertIfNegative val="0"/>
            <c:bubble3D val="0"/>
            <c:spPr>
              <a:solidFill>
                <a:srgbClr val="4472C4"/>
              </a:solidFill>
            </c:spPr>
          </c:dPt>
          <c:dPt>
            <c:idx val="2"/>
            <c:invertIfNegative val="0"/>
            <c:bubble3D val="0"/>
            <c:spPr>
              <a:solidFill>
                <a:srgbClr val="4472C4"/>
              </a:solidFill>
            </c:spPr>
          </c:dPt>
          <c:dPt>
            <c:idx val="3"/>
            <c:invertIfNegative val="0"/>
            <c:bubble3D val="0"/>
            <c:spPr>
              <a:solidFill>
                <a:srgbClr val="4472C4"/>
              </a:solidFill>
            </c:spPr>
          </c:dPt>
          <c:dPt>
            <c:idx val="4"/>
            <c:invertIfNegative val="0"/>
            <c:bubble3D val="0"/>
            <c:spPr>
              <a:solidFill>
                <a:srgbClr val="4472C4"/>
              </a:solidFill>
            </c:spPr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基线
(无正则)</c:v>
                </c:pt>
                <c:pt idx="1">
                  <c:v>D2
Dropout0.5</c:v>
                </c:pt>
                <c:pt idx="2">
                  <c:v>D4
WD=1e-3</c:v>
                </c:pt>
                <c:pt idx="3">
                  <c:v>D1
Dropout0.3</c:v>
                </c:pt>
                <c:pt idx="4">
                  <c:v>D3
LabelSmooth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80.09</c:v>
                </c:pt>
                <c:pt idx="1">
                  <c:v>79.18</c:v>
                </c:pt>
                <c:pt idx="2">
                  <c:v>77.1</c:v>
                </c:pt>
                <c:pt idx="3">
                  <c:v>73.68</c:v>
                </c:pt>
                <c:pt idx="4">
                  <c:v>73.66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 cap="flat" cmpd="sng" algn="ctr">
            <a:solidFill>
              <a:srgbClr val="E0E0E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5"/>
          <c:min val="0"/>
        </c:scaling>
        <c:delete val="0"/>
        <c:axPos val="l"/>
        <c:majorGridlines>
          <c:spPr>
            <a:ln w="9525" cap="flat" cmpd="sng" algn="ctr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525" cap="flat" cmpd="sng" algn="ctr">
            <a:solidFill>
              <a:srgbClr val="E0E0E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c04becb6-bc21-46a1-84d9-27edef969669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4472C4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ED7D31"/>
              </a:solidFill>
            </c:spPr>
          </c:dPt>
          <c:dPt>
            <c:idx val="1"/>
            <c:invertIfNegative val="0"/>
            <c:bubble3D val="0"/>
            <c:spPr>
              <a:solidFill>
                <a:srgbClr val="4472C4"/>
              </a:solidFill>
            </c:spPr>
          </c:dPt>
          <c:dPt>
            <c:idx val="2"/>
            <c:invertIfNegative val="0"/>
            <c:bubble3D val="0"/>
            <c:spPr>
              <a:solidFill>
                <a:srgbClr val="4472C4"/>
              </a:solidFill>
            </c:spPr>
          </c:dPt>
          <c:dPt>
            <c:idx val="3"/>
            <c:invertIfNegative val="0"/>
            <c:bubble3D val="0"/>
            <c:spPr>
              <a:solidFill>
                <a:srgbClr val="4472C4"/>
              </a:solidFill>
            </c:spPr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基线
(无增强)</c:v>
                </c:pt>
                <c:pt idx="1">
                  <c:v>E2
Geometric</c:v>
                </c:pt>
                <c:pt idx="2">
                  <c:v>E4
MixUp</c:v>
                </c:pt>
                <c:pt idx="3">
                  <c:v>E3
Geo+Color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80.09</c:v>
                </c:pt>
                <c:pt idx="1">
                  <c:v>79.62</c:v>
                </c:pt>
                <c:pt idx="2">
                  <c:v>71.19</c:v>
                </c:pt>
                <c:pt idx="3">
                  <c:v>24.78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 cap="flat" cmpd="sng" algn="ctr">
            <a:solidFill>
              <a:srgbClr val="E0E0E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5"/>
          <c:min val="0"/>
        </c:scaling>
        <c:delete val="0"/>
        <c:axPos val="l"/>
        <c:majorGridlines>
          <c:spPr>
            <a:ln w="9525" cap="flat" cmpd="sng" algn="ctr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525" cap="flat" cmpd="sng" algn="ctr">
            <a:solidFill>
              <a:srgbClr val="E0E0E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1387fb83-da89-4c55-9ccc-14b2a2df1a9a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4472C4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4472C4"/>
              </a:solidFill>
            </c:spPr>
          </c:dPt>
          <c:dPt>
            <c:idx val="1"/>
            <c:invertIfNegative val="0"/>
            <c:bubble3D val="0"/>
            <c:spPr>
              <a:solidFill>
                <a:srgbClr val="4472C4"/>
              </a:solidFill>
            </c:spPr>
          </c:dPt>
          <c:dPt>
            <c:idx val="2"/>
            <c:invertIfNegative val="0"/>
            <c:bubble3D val="0"/>
            <c:spPr>
              <a:solidFill>
                <a:srgbClr val="ED7D31"/>
              </a:solidFill>
            </c:spPr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E2
Haar+Geo</c:v>
                </c:pt>
                <c:pt idx="1">
                  <c:v>C5
YOLO only</c:v>
                </c:pt>
                <c:pt idx="2">
                  <c:v>F1
YOLO+Geo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79.62</c:v>
                </c:pt>
                <c:pt idx="1">
                  <c:v>80.09</c:v>
                </c:pt>
                <c:pt idx="2">
                  <c:v>89.31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 cap="flat" cmpd="sng" algn="ctr">
            <a:solidFill>
              <a:srgbClr val="E0E0E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5"/>
          <c:min val="0"/>
        </c:scaling>
        <c:delete val="0"/>
        <c:axPos val="l"/>
        <c:majorGridlines>
          <c:spPr>
            <a:ln w="9525" cap="flat" cmpd="sng" algn="ctr">
              <a:solidFill>
                <a:srgbClr val="E0E0E0"/>
              </a:solidFill>
              <a:prstDash val="solid"/>
              <a:round/>
            </a:ln>
          </c:spPr>
        </c:majorGridlines>
        <c:majorTickMark val="out"/>
        <c:minorTickMark val="none"/>
        <c:tickLblPos val="nextTo"/>
        <c:spPr>
          <a:ln w="9525" cap="flat" cmpd="sng" algn="ctr">
            <a:solidFill>
              <a:srgbClr val="E0E0E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e4b9aff2-3e7e-4a5e-9068-d95ffe23d90f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89.68</c:v>
                </c:pt>
                <c:pt idx="1">
                  <c:v>83.33</c:v>
                </c:pt>
                <c:pt idx="2">
                  <c:v>97.78</c:v>
                </c:pt>
                <c:pt idx="3">
                  <c:v>100</c:v>
                </c:pt>
                <c:pt idx="4">
                  <c:v>99.17</c:v>
                </c:pt>
                <c:pt idx="5">
                  <c:v>89.17</c:v>
                </c:pt>
                <c:pt idx="6">
                  <c:v>93</c:v>
                </c:pt>
                <c:pt idx="7">
                  <c:v>100</c:v>
                </c:pt>
                <c:pt idx="8">
                  <c:v>92.86</c:v>
                </c:pt>
                <c:pt idx="9">
                  <c:v>87.5</c:v>
                </c:pt>
                <c:pt idx="10">
                  <c:v>75</c:v>
                </c:pt>
                <c:pt idx="11">
                  <c:v>64.29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5"/>
          <c:min val="0"/>
        </c:scaling>
        <c:delete val="0"/>
        <c:axPos val="l"/>
        <c:majorGridlines>
          <c:spPr>
            <a:ln w="9525" cap="flat" cmpd="sng" algn="ctr">
              <a:solidFill>
                <a:srgbClr val="E0E0E0"/>
              </a:solidFill>
              <a:prstDash val="solid"/>
              <a:round/>
            </a:ln>
          </c:spPr>
        </c:majorGridlines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2796bed8-6b99-4cea-add6-31c5b3b139ae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tags" Target="../tags/tag19.xml"/><Relationship Id="rId20" Type="http://schemas.openxmlformats.org/officeDocument/2006/relationships/tags" Target="../tags/tag20.xml"/><Relationship Id="rId21" Type="http://schemas.openxmlformats.org/officeDocument/2006/relationships/tags" Target="../tags/tag21.xml"/><Relationship Id="rId22" Type="http://schemas.openxmlformats.org/officeDocument/2006/relationships/tags" Target="../tags/tag22.xml"/><Relationship Id="rId23" Type="http://schemas.openxmlformats.org/officeDocument/2006/relationships/tags" Target="../tags/tag23.xml"/><Relationship Id="rId24" Type="http://schemas.openxmlformats.org/officeDocument/2006/relationships/tags" Target="../tags/tag24.xml"/><Relationship Id="rId25" Type="http://schemas.openxmlformats.org/officeDocument/2006/relationships/tags" Target="../tags/tag25.xml"/><Relationship Id="rId26" Type="http://schemas.openxmlformats.org/officeDocument/2006/relationships/tags" Target="../tags/tag26.xml"/><Relationship Id="rId27" Type="http://schemas.openxmlformats.org/officeDocument/2006/relationships/tags" Target="../tags/tag27.xml"/><Relationship Id="rId28" Type="http://schemas.openxmlformats.org/officeDocument/2006/relationships/tags" Target="../tags/tag28.xml"/><Relationship Id="rId29" Type="http://schemas.openxmlformats.org/officeDocument/2006/relationships/tags" Target="../tags/tag29.xml"/><Relationship Id="rId30" Type="http://schemas.openxmlformats.org/officeDocument/2006/relationships/tags" Target="../tags/tag30.xml"/><Relationship Id="rId3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Phase 3: CAFE 全参数 + 结构优化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CCDDFF"/>
                </a:solidFill>
              </a:defRPr>
            </a:pPr>
            <a:r>
              <a:rPr>
                <a:solidFill>
                  <a:srgbClr val="FFFFFF"/>
                </a:solidFill>
              </a:rPr>
              <a:t>KMU-FED 6类表情识别 · KFold-10 受试者独立 · 21 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ABBDD"/>
                </a:solidFill>
              </a:defRPr>
            </a:pPr>
            <a:r>
              <a:rPr>
                <a:solidFill>
                  <a:srgbClr val="FFFFFF"/>
                </a:solidFill>
              </a:rPr>
              <a:t>2026-07-21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7BB6"/>
                </a:solidFill>
              </a:defRPr>
            </a:pPr>
            <a:r>
              <a:t>实验框架: 7 层分层优化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控制变量 · 层级递进 · 早停自动终止 (patience=10)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0000" y="1200000"/>
            <a:ext cx="1500000" cy="2300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C7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50000" y="1280000"/>
            <a:ext cx="250000" cy="250000"/>
          </a:xfrm>
          <a:prstGeom prst="ellipse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1260000"/>
            <a:ext cx="11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Backbone</a:t>
            </a:r>
            <a:br/>
            <a:r>
              <a:t>+ 预训练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1650000"/>
            <a:ext cx="13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RN18/34/50</a:t>
            </a:r>
            <a:br/>
            <a:r>
              <a:t>MSCeleb/ImageNet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50000" y="3120000"/>
            <a:ext cx="650000" cy="280000"/>
          </a:xfrm>
          <a:prstGeom prst="round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 实验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0000" y="1200000"/>
            <a:ext cx="1500000" cy="2300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FDA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50000" y="1280000"/>
            <a:ext cx="250000" cy="250000"/>
          </a:xfrm>
          <a:prstGeom prst="ellipse">
            <a:avLst/>
          </a:prstGeom>
          <a:solidFill>
            <a:srgbClr val="FDA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0000" y="1260000"/>
            <a:ext cx="11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优化器</a:t>
            </a:r>
            <a:br/>
            <a:r>
              <a:t>+ 调度器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00000" y="1650000"/>
            <a:ext cx="13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Adam/AdamW</a:t>
            </a:r>
            <a:br/>
            <a:r>
              <a:t>Exp/Cos/Plateau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50000" y="3120000"/>
            <a:ext cx="650000" cy="280000"/>
          </a:xfrm>
          <a:prstGeom prst="roundRect">
            <a:avLst/>
          </a:prstGeom>
          <a:solidFill>
            <a:srgbClr val="FDA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 实验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0000" y="1200000"/>
            <a:ext cx="1500000" cy="2300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D71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50000" y="1280000"/>
            <a:ext cx="250000" cy="250000"/>
          </a:xfrm>
          <a:prstGeom prst="ellipse">
            <a:avLst/>
          </a:prstGeom>
          <a:solidFill>
            <a:srgbClr val="D71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0000" y="1260000"/>
            <a:ext cx="11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学习率</a:t>
            </a:r>
            <a:br/>
            <a:r>
              <a:t>+ 权重衰减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0000" y="1650000"/>
            <a:ext cx="13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lr 5e-4~1e-4</a:t>
            </a:r>
            <a:br/>
            <a:r>
              <a:t>wd 1e-4~0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50000" y="3120000"/>
            <a:ext cx="650000" cy="280000"/>
          </a:xfrm>
          <a:prstGeom prst="roundRect">
            <a:avLst/>
          </a:prstGeom>
          <a:solidFill>
            <a:srgbClr val="D71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 实验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0000" y="1200000"/>
            <a:ext cx="1500000" cy="2300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B9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350000" y="1280000"/>
            <a:ext cx="250000" cy="250000"/>
          </a:xfrm>
          <a:prstGeom prst="ellipse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50000" y="1260000"/>
            <a:ext cx="11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数据增强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0" y="1650000"/>
            <a:ext cx="13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Geometric</a:t>
            </a:r>
            <a:br/>
            <a:r>
              <a:t>ColorJitter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0000" y="3120000"/>
            <a:ext cx="650000" cy="280000"/>
          </a:xfrm>
          <a:prstGeom prst="round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 实验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0000" y="1200000"/>
            <a:ext cx="1500000" cy="2300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757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950000" y="1280000"/>
            <a:ext cx="250000" cy="250000"/>
          </a:xfrm>
          <a:prstGeom prst="ellipse">
            <a:avLst/>
          </a:prstGeom>
          <a:solidFill>
            <a:srgbClr val="757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0000" y="1260000"/>
            <a:ext cx="11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损失权重</a:t>
            </a:r>
            <a:br/>
            <a:r>
              <a:t>+ 正则化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00000" y="1650000"/>
            <a:ext cx="13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div=3/5/7</a:t>
            </a:r>
            <a:br/>
            <a:r>
              <a:t>LS/Dropout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50000" y="3120000"/>
            <a:ext cx="650000" cy="280000"/>
          </a:xfrm>
          <a:prstGeom prst="roundRect">
            <a:avLst/>
          </a:prstGeom>
          <a:solidFill>
            <a:srgbClr val="757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 实验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0000" y="1200000"/>
            <a:ext cx="1500000" cy="2300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E72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50000" y="1280000"/>
            <a:ext cx="250000" cy="250000"/>
          </a:xfrm>
          <a:prstGeom prst="ellipse">
            <a:avLst/>
          </a:prstGeom>
          <a:solidFill>
            <a:srgbClr val="E72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0000" y="1260000"/>
            <a:ext cx="11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训练配置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00000" y="1650000"/>
            <a:ext cx="13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bs=32/64</a:t>
            </a:r>
            <a:br/>
            <a:r>
              <a:t>ep=60/80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50000" y="3120000"/>
            <a:ext cx="650000" cy="280000"/>
          </a:xfrm>
          <a:prstGeom prst="roundRect">
            <a:avLst/>
          </a:prstGeom>
          <a:solidFill>
            <a:srgbClr val="E72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 实验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00000" y="1200000"/>
            <a:ext cx="1500000" cy="2300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66A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50000" y="1280000"/>
            <a:ext cx="250000" cy="250000"/>
          </a:xfrm>
          <a:prstGeom prst="ellipse">
            <a:avLst/>
          </a:prstGeom>
          <a:solidFill>
            <a:srgbClr val="66A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50000" y="1260000"/>
            <a:ext cx="11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最终验证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00000" y="1650000"/>
            <a:ext cx="13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3 种子统计</a:t>
            </a:r>
            <a:br/>
            <a:r>
              <a:t>×10Fold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850000" y="3120000"/>
            <a:ext cx="650000" cy="280000"/>
          </a:xfrm>
          <a:prstGeom prst="roundRect">
            <a:avLst/>
          </a:prstGeom>
          <a:solidFill>
            <a:srgbClr val="66A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 实验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0000" y="3700000"/>
            <a:ext cx="11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</a:defRPr>
            </a:pPr>
            <a:r>
              <a:t>策略: 参数间有依赖 → 串行, 无依赖 → 并行 | 每层锁定最优 → 进入下一层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7BB6"/>
                </a:solidFill>
              </a:defRPr>
            </a:pPr>
            <a:r>
              <a:t>优化路径总表: 68.80% → 92.69%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KFold-10 · 受试者独立 · 每步 +1.5~11pp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0000" y="1100000"/>
          <a:ext cx="8700000" cy="5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000"/>
                <a:gridCol w="900000"/>
                <a:gridCol w="900000"/>
                <a:gridCol w="900000"/>
                <a:gridCol w="1200000"/>
                <a:gridCol w="1000000"/>
                <a:gridCol w="950000"/>
                <a:gridCol w="950000"/>
                <a:gridCol w="800000"/>
              </a:tblGrid>
              <a:tr h="6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步骤</a:t>
                      </a:r>
                    </a:p>
                  </a:txBody>
                  <a:tcPr>
                    <a:solidFill>
                      <a:srgbClr val="2C7B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Backbone</a:t>
                      </a:r>
                    </a:p>
                  </a:txBody>
                  <a:tcPr>
                    <a:solidFill>
                      <a:srgbClr val="2C7B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预训练</a:t>
                      </a:r>
                    </a:p>
                  </a:txBody>
                  <a:tcPr>
                    <a:solidFill>
                      <a:srgbClr val="2C7B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调度器</a:t>
                      </a:r>
                    </a:p>
                  </a:txBody>
                  <a:tcPr>
                    <a:solidFill>
                      <a:srgbClr val="2C7B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增强</a:t>
                      </a:r>
                    </a:p>
                  </a:txBody>
                  <a:tcPr>
                    <a:solidFill>
                      <a:srgbClr val="2C7B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损失权重</a:t>
                      </a:r>
                    </a:p>
                  </a:txBody>
                  <a:tcPr>
                    <a:solidFill>
                      <a:srgbClr val="2C7B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Acc</a:t>
                      </a:r>
                    </a:p>
                  </a:txBody>
                  <a:tcPr>
                    <a:solidFill>
                      <a:srgbClr val="2C7B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Std</a:t>
                      </a:r>
                    </a:p>
                  </a:txBody>
                  <a:tcPr>
                    <a:solidFill>
                      <a:srgbClr val="2C7B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提升</a:t>
                      </a:r>
                    </a:p>
                  </a:txBody>
                  <a:tcPr>
                    <a:solidFill>
                      <a:srgbClr val="2C7BB6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RN18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MSCeleb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Exp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HFlip+Erase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div=5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68.80%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18.23%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+ImageNet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RN18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ImageNet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Exp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HFlip+Erase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div=5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79.84%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15.63%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+11.0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+ResNet-34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RN34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ImageNet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Exp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HFlip+Erase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div=5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86.64%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11.92%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+6.8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+ResNet-50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RN50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ImageNet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Exp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HFlip+Erase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div=5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88.42%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11.12%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+1.8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+Cosine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RN50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ImageNet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Cosine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HFlip+Erase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div=5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89.24%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+0.8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+Geo增强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RN50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ImageNet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Cosine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+Geometric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div=5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90.74%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10.75%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+1.5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+div=3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RN50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ImageNet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Cosine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+Geometric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div=3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92.22%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+1.5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7191C"/>
                          </a:solidFill>
                        </a:defRPr>
                      </a:pPr>
                      <a:r>
                        <a:t>+ep=80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7191C"/>
                          </a:solidFill>
                        </a:defRPr>
                      </a:pPr>
                      <a:r>
                        <a:t>RN50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7191C"/>
                          </a:solidFill>
                        </a:defRPr>
                      </a:pPr>
                      <a:r>
                        <a:t>ImageNet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7191C"/>
                          </a:solidFill>
                        </a:defRPr>
                      </a:pPr>
                      <a:r>
                        <a:t>Cosine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7191C"/>
                          </a:solidFill>
                        </a:defRPr>
                      </a:pPr>
                      <a:r>
                        <a:t>+Geometric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7191C"/>
                          </a:solidFill>
                        </a:defRPr>
                      </a:pPr>
                      <a:r>
                        <a:t>div=3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7191C"/>
                          </a:solidFill>
                        </a:defRPr>
                      </a:pPr>
                      <a:r>
                        <a:t>92.69%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7191C"/>
                          </a:solidFill>
                        </a:defRPr>
                      </a:pPr>
                      <a:r>
                        <a:t>7.39%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7191C"/>
                          </a:solidFill>
                        </a:defRPr>
                      </a:pPr>
                      <a:r>
                        <a:t>+0.5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00000" y="6600000"/>
            <a:ext cx="11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</a:defRPr>
            </a:pPr>
            <a:r>
              <a:t>总计: +23.89pp (vs 修复后基线) | 最终 3 种子均值: 90.63%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7BB6"/>
                </a:solidFill>
              </a:defRPr>
            </a:pPr>
            <a:r>
              <a:t>L1: Backbone + 预训练 (5 实验)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RN18/34/50 × MSCeleb/ImageNet · Adam+ExpLR · HFlip+Erasing</a:t>
            </a:r>
          </a:p>
        </p:txBody>
      </p:sp>
      <p:pic>
        <p:nvPicPr>
          <p:cNvPr id="5" name="Picture 4" descr="optimization-pa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00" y="1100000"/>
            <a:ext cx="7200000" cy="45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0000" y="1100000"/>
            <a:ext cx="39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C7BB6"/>
                </a:solidFill>
              </a:defRPr>
            </a:pPr>
            <a:r>
              <a:t>关键发现</a:t>
            </a:r>
          </a:p>
          <a:p>
            <a:pPr>
              <a:spcAft>
                <a:spcPts val="400"/>
              </a:spcAft>
              <a:defRPr sz="1100">
                <a:solidFill>
                  <a:srgbClr val="2C7BB6"/>
                </a:solidFill>
              </a:defRPr>
            </a:pPr>
            <a:r>
              <a:t>ImageNet 预训练优于 MSCeleb +11.0pp</a:t>
            </a:r>
          </a:p>
          <a:p>
            <a:pPr>
              <a:spcAft>
                <a:spcPts val="400"/>
              </a:spcAft>
              <a:defRPr sz="1100">
                <a:solidFill>
                  <a:srgbClr val="2C7BB6"/>
                </a:solidFill>
              </a:defRPr>
            </a:pPr>
            <a:r>
              <a:t>→ 通用视觉特征比人脸专有特征</a:t>
            </a:r>
          </a:p>
          <a:p>
            <a:pPr>
              <a:spcAft>
                <a:spcPts val="400"/>
              </a:spcAft>
              <a:defRPr sz="1100">
                <a:solidFill>
                  <a:srgbClr val="2C7BB6"/>
                </a:solidFill>
              </a:defRPr>
            </a:pPr>
            <a:r>
              <a:t>   更适合表情识别</a:t>
            </a:r>
          </a:p>
          <a:p>
            <a:pPr>
              <a:spcAft>
                <a:spcPts val="400"/>
              </a:spcAft>
              <a:defRPr sz="1100">
                <a:solidFill>
                  <a:srgbClr val="2C7BB6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C7BB6"/>
                </a:solidFill>
              </a:defRPr>
            </a:pPr>
            <a:r>
              <a:t>ResNet 深度越大越好</a:t>
            </a:r>
          </a:p>
          <a:p>
            <a:pPr>
              <a:spcAft>
                <a:spcPts val="400"/>
              </a:spcAft>
              <a:defRPr sz="1100">
                <a:solidFill>
                  <a:srgbClr val="2C7BB6"/>
                </a:solidFill>
              </a:defRPr>
            </a:pPr>
            <a:r>
              <a:t>→ RN34 &gt; RN18 (+6.8pp)</a:t>
            </a:r>
          </a:p>
          <a:p>
            <a:pPr>
              <a:spcAft>
                <a:spcPts val="400"/>
              </a:spcAft>
              <a:defRPr sz="1100">
                <a:solidFill>
                  <a:srgbClr val="2C7BB6"/>
                </a:solidFill>
              </a:defRPr>
            </a:pPr>
            <a:r>
              <a:t>→ RN50 &gt; RN34 (+1.8pp)</a:t>
            </a:r>
          </a:p>
          <a:p>
            <a:pPr>
              <a:spcAft>
                <a:spcPts val="400"/>
              </a:spcAft>
              <a:defRPr sz="1100">
                <a:solidFill>
                  <a:srgbClr val="2C7BB6"/>
                </a:solidFill>
              </a:defRPr>
            </a:pPr>
            <a:r>
              <a:t>→ 边际收益递减</a:t>
            </a:r>
          </a:p>
          <a:p>
            <a:pPr>
              <a:spcAft>
                <a:spcPts val="400"/>
              </a:spcAft>
              <a:defRPr sz="1100">
                <a:solidFill>
                  <a:srgbClr val="2C7BB6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C7BB6"/>
                </a:solidFill>
              </a:defRPr>
            </a:pPr>
            <a:r>
              <a:t>RN50 + ImageNet = 88.42%</a:t>
            </a:r>
          </a:p>
          <a:p>
            <a:pPr>
              <a:spcAft>
                <a:spcPts val="400"/>
              </a:spcAft>
              <a:defRPr sz="1100">
                <a:solidFill>
                  <a:srgbClr val="2C7BB6"/>
                </a:solidFill>
              </a:defRPr>
            </a:pPr>
            <a:r>
              <a:t>vs baseline 68.80% (+19.6pp)</a:t>
            </a:r>
          </a:p>
          <a:p>
            <a:pPr>
              <a:spcAft>
                <a:spcPts val="400"/>
              </a:spcAft>
              <a:defRPr sz="1100">
                <a:solidFill>
                  <a:srgbClr val="2C7BB6"/>
                </a:solidFill>
              </a:defRPr>
            </a:pPr>
            <a:r>
              <a:t>锁定进入 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7BB6"/>
                </a:solidFill>
              </a:defRPr>
            </a:pPr>
            <a:r>
              <a:t>L2: 优化器 + 调度器 (4 实验)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RN50+ImageNet · lr=2e-4 · wd=1e-4</a:t>
            </a:r>
          </a:p>
        </p:txBody>
      </p:sp>
      <p:pic>
        <p:nvPicPr>
          <p:cNvPr id="5" name="Picture 4" descr="layer-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00" y="1100000"/>
            <a:ext cx="7200000" cy="45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0000" y="1100000"/>
            <a:ext cx="39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C7BB6"/>
                </a:solidFill>
              </a:defRPr>
            </a:pPr>
            <a:r>
              <a:t>关键发现</a:t>
            </a:r>
          </a:p>
          <a:p>
            <a:pPr>
              <a:spcAft>
                <a:spcPts val="400"/>
              </a:spcAft>
              <a:defRPr sz="1100">
                <a:solidFill>
                  <a:srgbClr val="2C7BB6"/>
                </a:solidFill>
              </a:defRPr>
            </a:pPr>
            <a:r>
              <a:t>Adam &gt; AdamW (+3.6pp)</a:t>
            </a:r>
          </a:p>
          <a:p>
            <a:pPr>
              <a:spcAft>
                <a:spcPts val="400"/>
              </a:spcAft>
              <a:defRPr sz="1100">
                <a:solidFill>
                  <a:srgbClr val="2C7BB6"/>
                </a:solidFill>
              </a:defRPr>
            </a:pPr>
            <a:r>
              <a:t>→ 耦合 Weight Decay 可能</a:t>
            </a:r>
          </a:p>
          <a:p>
            <a:pPr>
              <a:spcAft>
                <a:spcPts val="400"/>
              </a:spcAft>
              <a:defRPr sz="1100">
                <a:solidFill>
                  <a:srgbClr val="2C7BB6"/>
                </a:solidFill>
              </a:defRPr>
            </a:pPr>
            <a:r>
              <a:t>   更适合小数据集</a:t>
            </a:r>
          </a:p>
          <a:p>
            <a:pPr>
              <a:spcAft>
                <a:spcPts val="400"/>
              </a:spcAft>
              <a:defRPr sz="1100">
                <a:solidFill>
                  <a:srgbClr val="2C7BB6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C7BB6"/>
                </a:solidFill>
              </a:defRPr>
            </a:pPr>
            <a:r>
              <a:t>Cosine 调度器最优</a:t>
            </a:r>
          </a:p>
          <a:p>
            <a:pPr>
              <a:spcAft>
                <a:spcPts val="400"/>
              </a:spcAft>
              <a:defRPr sz="1100">
                <a:solidFill>
                  <a:srgbClr val="2C7BB6"/>
                </a:solidFill>
              </a:defRPr>
            </a:pPr>
            <a:r>
              <a:t>→ 89.24% vs Exp 88.42%</a:t>
            </a:r>
          </a:p>
          <a:p>
            <a:pPr>
              <a:spcAft>
                <a:spcPts val="400"/>
              </a:spcAft>
              <a:defRPr sz="1100">
                <a:solidFill>
                  <a:srgbClr val="2C7BB6"/>
                </a:solidFill>
              </a:defRPr>
            </a:pPr>
            <a:r>
              <a:t>→ 标准差从 11.12→8.97</a:t>
            </a:r>
          </a:p>
          <a:p>
            <a:pPr>
              <a:spcAft>
                <a:spcPts val="400"/>
              </a:spcAft>
              <a:defRPr sz="1100">
                <a:solidFill>
                  <a:srgbClr val="2C7BB6"/>
                </a:solidFill>
              </a:defRPr>
            </a:pPr>
            <a:r>
              <a:t>→ 平滑衰减均衡各 fold</a:t>
            </a:r>
          </a:p>
          <a:p>
            <a:pPr>
              <a:spcAft>
                <a:spcPts val="400"/>
              </a:spcAft>
              <a:defRPr sz="1100">
                <a:solidFill>
                  <a:srgbClr val="2C7BB6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C7BB6"/>
                </a:solidFill>
              </a:defRPr>
            </a:pPr>
            <a:r>
              <a:t>Plateau 表现最差 (85.69%)</a:t>
            </a:r>
          </a:p>
          <a:p>
            <a:pPr>
              <a:spcAft>
                <a:spcPts val="400"/>
              </a:spcAft>
              <a:defRPr sz="1100">
                <a:solidFill>
                  <a:srgbClr val="2C7BB6"/>
                </a:solidFill>
              </a:defRPr>
            </a:pPr>
            <a:r>
              <a:t>→ reduce-on-plateau 过于保守</a:t>
            </a:r>
          </a:p>
          <a:p>
            <a:pPr>
              <a:spcAft>
                <a:spcPts val="400"/>
              </a:spcAft>
              <a:defRPr sz="1100">
                <a:solidFill>
                  <a:srgbClr val="2C7BB6"/>
                </a:solidFill>
              </a:defRPr>
            </a:pPr>
            <a:r>
              <a:t>锁定: Adam + Cosine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7BB6"/>
                </a:solidFill>
              </a:defRPr>
            </a:pPr>
            <a:r>
              <a:t>L4-L5: 数据增强 + 损失权重 + 正则化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RN50+Adam+Cosine · 8 实验</a:t>
            </a:r>
          </a:p>
        </p:txBody>
      </p:sp>
      <p:pic>
        <p:nvPicPr>
          <p:cNvPr id="5" name="Picture 4" descr="acc-loss-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00" y="1100000"/>
            <a:ext cx="5500000" cy="3200000"/>
          </a:xfrm>
          <a:prstGeom prst="rect">
            <a:avLst/>
          </a:prstGeom>
        </p:spPr>
      </p:pic>
      <p:pic>
        <p:nvPicPr>
          <p:cNvPr id="6" name="Picture 5" descr="best-loss-curv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0000" y="1100000"/>
            <a:ext cx="5500000" cy="32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0000" y="4500000"/>
            <a:ext cx="110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C7BB6"/>
                </a:solidFill>
              </a:defRPr>
            </a:pPr>
            <a:r>
              <a:t>关键发现</a:t>
            </a:r>
          </a:p>
          <a:p>
            <a:pPr>
              <a:spcAft>
                <a:spcPts val="400"/>
              </a:spcAft>
              <a:defRPr sz="1100">
                <a:solidFill>
                  <a:srgbClr val="2C7BB6"/>
                </a:solidFill>
              </a:defRPr>
            </a:pPr>
            <a:r>
              <a:t>L4 数据增强: Geometric +1.5pp (Rotation 15deg + Affine 0.1)</a:t>
            </a:r>
          </a:p>
          <a:p>
            <a:pPr>
              <a:spcAft>
                <a:spcPts val="400"/>
              </a:spcAft>
              <a:defRPr sz="1100">
                <a:solidFill>
                  <a:srgbClr val="2C7BB6"/>
                </a:solidFill>
              </a:defRPr>
            </a:pPr>
            <a:r>
              <a:t>            ColorJitter + Normalize 致命 (23.52%), 颜色增强在归一化后失效</a:t>
            </a:r>
          </a:p>
          <a:p>
            <a:pPr>
              <a:spcAft>
                <a:spcPts val="400"/>
              </a:spcAft>
              <a:defRPr sz="1100">
                <a:solidFill>
                  <a:srgbClr val="2C7BB6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C7BB6"/>
                </a:solidFill>
              </a:defRPr>
            </a:pPr>
            <a:r>
              <a:t>L5 损失权重: div=3 &gt; div=7 &gt; div=5, 降低多样性约束利于主任务 (+1.5pp)</a:t>
            </a:r>
          </a:p>
          <a:p>
            <a:pPr>
              <a:spcAft>
                <a:spcPts val="400"/>
              </a:spcAft>
              <a:defRPr sz="1100">
                <a:solidFill>
                  <a:srgbClr val="2C7BB6"/>
                </a:solidFill>
              </a:defRPr>
            </a:pPr>
            <a:r>
              <a:t>             LabelSmoothing 有害 (-1.8pp), Dropout=0.3 中性 (-0.05pp)</a:t>
            </a:r>
          </a:p>
          <a:p>
            <a:pPr>
              <a:spcAft>
                <a:spcPts val="400"/>
              </a:spcAft>
              <a:defRPr sz="1100">
                <a:solidFill>
                  <a:srgbClr val="2C7BB6"/>
                </a:solidFill>
              </a:defRPr>
            </a:pPr>
            <a:r>
              <a:t>             小数据集 FER 场景, 正则化整体不推荐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7BB6"/>
                </a:solidFill>
              </a:defRPr>
            </a:pPr>
            <a:r>
              <a:t>最终验证: 3 种子 × 10 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最优配置: RN50+ImageNet+Adam+Cosine+lr2e-4+wd1e-4+Geo+div3+ep80</a:t>
            </a:r>
          </a:p>
        </p:txBody>
      </p:sp>
      <p:pic>
        <p:nvPicPr>
          <p:cNvPr id="5" name="Picture 4" descr="final-3see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00" y="1100000"/>
            <a:ext cx="5800000" cy="4200000"/>
          </a:xfrm>
          <a:prstGeom prst="rect">
            <a:avLst/>
          </a:prstGeom>
        </p:spPr>
      </p:pic>
      <p:pic>
        <p:nvPicPr>
          <p:cNvPr id="6" name="Picture 5" descr="baseline-vs-best-fol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000" y="1100000"/>
            <a:ext cx="5500000" cy="42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0000" y="5500000"/>
            <a:ext cx="11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7191C"/>
                </a:solidFill>
              </a:defRPr>
            </a:pPr>
            <a:r>
              <a:t>最终结果 (3 种子均值 = 90.63%)</a:t>
            </a:r>
          </a:p>
          <a:p>
            <a:pPr>
              <a:spcAft>
                <a:spcPts val="400"/>
              </a:spcAft>
              <a:defRPr sz="1200">
                <a:solidFill>
                  <a:srgbClr val="D7191C"/>
                </a:solidFill>
              </a:defRPr>
            </a:pPr>
            <a:r>
              <a:t>种子 42: 92.69% ± 7.39%  |  种子 123: 89.74% ± 11.92%  |  种子 456: 89.46% ± 12.25%</a:t>
            </a:r>
          </a:p>
          <a:p>
            <a:pPr>
              <a:spcAft>
                <a:spcPts val="400"/>
              </a:spcAft>
              <a:defRPr sz="1200">
                <a:solidFill>
                  <a:srgbClr val="D7191C"/>
                </a:solidFill>
              </a:defRPr>
            </a:pPr>
            <a:r>
              <a:t>30-Fold 均值: 90.63%  |  vs 修复基线 68.80%: +21.83pp  |  vs 师兄原版 74.38%: +16.25pp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7BB6"/>
                </a:solidFill>
              </a:defRPr>
            </a:pPr>
            <a:r>
              <a:t>Acc + Loss 综合分析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训练 vs 验证: 过拟合程度 · 收敛速度 · Loss 变化趋势</a:t>
            </a:r>
          </a:p>
        </p:txBody>
      </p:sp>
      <p:pic>
        <p:nvPicPr>
          <p:cNvPr id="5" name="Picture 4" descr="best-loss-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00" y="1100000"/>
            <a:ext cx="11400000" cy="53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0000" y="6550000"/>
            <a:ext cx="11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</a:defRPr>
            </a:pPr>
            <a:r>
              <a:t>Train Loss: CE + 3*Div + 1.5*Mask 复合损失  |  Val Loss ≈ 1.3~1.5  |  过拟合可控 (Val Acc 持续提升)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7BB6"/>
                </a:solidFill>
              </a:defRPr>
            </a:pPr>
            <a:r>
              <a:t>各维度最优选择总结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基于 21 实验 · 控制变量逐层验证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0000" y="1100000"/>
          <a:ext cx="11400000" cy="5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/>
                <a:gridCol w="2300000"/>
                <a:gridCol w="2300000"/>
                <a:gridCol w="53000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2C7B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最优选择</a:t>
                      </a:r>
                    </a:p>
                  </a:txBody>
                  <a:tcPr>
                    <a:solidFill>
                      <a:srgbClr val="2C7B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次优选择</a:t>
                      </a:r>
                    </a:p>
                  </a:txBody>
                  <a:tcPr>
                    <a:solidFill>
                      <a:srgbClr val="2C7BB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关键说明</a:t>
                      </a:r>
                    </a:p>
                  </a:txBody>
                  <a:tcPr>
                    <a:solidFill>
                      <a:srgbClr val="2C7BB6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Backbone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ResNet-50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ResNet-34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+1.8pp vs RN34, 最多3个fold达100%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预训练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ImageNet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MSCeleb (仅RN18)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+11.0pp, 通用特征&gt;人脸专有特征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优化器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AdamW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+3.6pp, 耦合WD更适合小数据集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调度器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CosineAnnealing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Exponential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+0.8pp, std减半(8.97%)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学习率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1e-4/5e-4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默认值恰是最优, 过大/过小均降~6pp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权重衰减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1e-4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1e-5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默认值最优, wd=0 降3pp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数据增强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Geometric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HFlip+Erase(基础)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+1.5pp, ColorJitter禁用(23.5%)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损失权重(div)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7.0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+1.5pp, 弱多样性约束利于主任务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训练轮数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80 (早停)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+0.5pp, std降至7.39%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正则化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不使用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Dropout=0.3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小数据集FER场景, 全部有害/中性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7191C"/>
                          </a:solidFill>
                        </a:defRPr>
                      </a:pPr>
                      <a:r>
                        <a:t>最终配置: 92.69%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7191C"/>
                          </a:solidFill>
                        </a:defRPr>
                      </a:pP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7191C"/>
                          </a:solidFill>
                        </a:defRPr>
                      </a:pP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D7191C"/>
                          </a:solidFill>
                        </a:defRPr>
                      </a:pPr>
                      <a:r>
                        <a:t>RN50+ImageNet+Adam+Cosine+Geo+div3+ep80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00000" y="6580000"/>
            <a:ext cx="11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</a:defRPr>
            </a:pPr>
            <a:r>
              <a:t>vs 修复基线(68.80%): +23.89pp  |  vs 师兄原版(74.38%): +18.31pp  |  3种子均值: 90.63%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7BB6"/>
                </a:solidFill>
              </a:defRPr>
            </a:pPr>
            <a:r>
              <a:t>后续工作与展望</a:t>
            </a:r>
          </a:p>
        </p:txBody>
      </p:sp>
      <p:sp>
        <p:nvSpPr>
          <p:cNvPr id="4" name="Oval 3"/>
          <p:cNvSpPr/>
          <p:nvPr/>
        </p:nvSpPr>
        <p:spPr>
          <a:xfrm>
            <a:off x="600000" y="1200000"/>
            <a:ext cx="400000" cy="400000"/>
          </a:xfrm>
          <a:prstGeom prst="ellipse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0000" y="1220000"/>
            <a:ext cx="3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论文撰写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0000" y="157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基于最优配置(92.69%)撰写实验部分, 对比 SOTA 方法</a:t>
            </a:r>
          </a:p>
        </p:txBody>
      </p:sp>
      <p:sp>
        <p:nvSpPr>
          <p:cNvPr id="7" name="Oval 6"/>
          <p:cNvSpPr/>
          <p:nvPr/>
        </p:nvSpPr>
        <p:spPr>
          <a:xfrm>
            <a:off x="600000" y="2000000"/>
            <a:ext cx="400000" cy="400000"/>
          </a:xfrm>
          <a:prstGeom prst="ellipse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000" y="2020000"/>
            <a:ext cx="3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跨数据集验证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000" y="237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在 RAF-DB, AffectNet, FER2013 上验证泛化能力</a:t>
            </a:r>
          </a:p>
        </p:txBody>
      </p:sp>
      <p:sp>
        <p:nvSpPr>
          <p:cNvPr id="10" name="Oval 9"/>
          <p:cNvSpPr/>
          <p:nvPr/>
        </p:nvSpPr>
        <p:spPr>
          <a:xfrm>
            <a:off x="600000" y="2800000"/>
            <a:ext cx="400000" cy="400000"/>
          </a:xfrm>
          <a:prstGeom prst="ellipse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000" y="2820000"/>
            <a:ext cx="3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更大 Backbone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000" y="317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ResNet-101, ConvNeXt, ViT 等更强 backbone</a:t>
            </a:r>
          </a:p>
        </p:txBody>
      </p:sp>
      <p:sp>
        <p:nvSpPr>
          <p:cNvPr id="13" name="Oval 12"/>
          <p:cNvSpPr/>
          <p:nvPr/>
        </p:nvSpPr>
        <p:spPr>
          <a:xfrm>
            <a:off x="600000" y="3600000"/>
            <a:ext cx="400000" cy="400000"/>
          </a:xfrm>
          <a:prstGeom prst="ellipse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000" y="3620000"/>
            <a:ext cx="3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CLIP 变体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000" y="397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CLIP ViT-L/14, SigLIP 等更大的视觉编码器</a:t>
            </a:r>
          </a:p>
        </p:txBody>
      </p:sp>
      <p:sp>
        <p:nvSpPr>
          <p:cNvPr id="16" name="Oval 15"/>
          <p:cNvSpPr/>
          <p:nvPr/>
        </p:nvSpPr>
        <p:spPr>
          <a:xfrm>
            <a:off x="600000" y="4400000"/>
            <a:ext cx="400000" cy="400000"/>
          </a:xfrm>
          <a:prstGeom prst="ellipse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000" y="4420000"/>
            <a:ext cx="3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多模态融合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0000" y="477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结合 CLIP 文本分支做 zero-shot / few-shot FER</a:t>
            </a:r>
          </a:p>
        </p:txBody>
      </p:sp>
      <p:sp>
        <p:nvSpPr>
          <p:cNvPr id="19" name="Oval 18"/>
          <p:cNvSpPr/>
          <p:nvPr/>
        </p:nvSpPr>
        <p:spPr>
          <a:xfrm>
            <a:off x="600000" y="5200000"/>
            <a:ext cx="400000" cy="400000"/>
          </a:xfrm>
          <a:prstGeom prst="ellipse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0000" y="5220000"/>
            <a:ext cx="3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消融实验补全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0000" y="557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Geo 参数调优, div 细化搜索, MixUp 重测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2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3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4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5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6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7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8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9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10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11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12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13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14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15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16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17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18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19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20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21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22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23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24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25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26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27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28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29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30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2895</Words>
  <Application>WPS 演示</Application>
  <PresentationFormat>On-screen Show (4:3)</PresentationFormat>
  <Paragraphs>613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张伯平</cp:lastModifiedBy>
  <cp:revision>3</cp:revision>
  <dcterms:created xsi:type="dcterms:W3CDTF">2013-01-27T09:14:00Z</dcterms:created>
  <dcterms:modified xsi:type="dcterms:W3CDTF">2026-07-17T01:28:18Z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93C5EA7ABA9F48C8AD34F1EC8DB161C6_12</vt:lpwstr>
  </property>
  <property fmtid="{D5CDD505-2E9C-101B-9397-08002B2CF9AE}" pid="3" name="KSOProductBuildVer">
    <vt:lpwstr>2052-12.1.0.26375</vt:lpwstr>
  </property>
</Properties>
</file>